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SZWMQ6GE797Q0V9G9ZRNKLJ87ZCMO7VRQE06NJDWXGH8TG5T66BJIC0EFSVHPDRRXOM6EOZLZH578LXJRSFT6FFT89C0WLCBAOOOIHB36C0EABEDAD19B87DA96457D7057DD6B2" Type="http://schemas.microsoft.com/office/2006/relationships/officeDocumentMain" Target="docProps/core.xml"/><Relationship Id="CGWMD6GJ7RYA059G9ZR8PLJ87NM0OAVR9S06XJDWXF8RTE5TZ7BJICJ6FY9HPB8RBFMX5OLIZI6D8MEJRNFTVFFZ8RMMWHLBBSOORHB359A5766DF0F4A9BFE35235DEF3ADFAD7" Type="http://schemas.microsoft.com/office/2006/relationships/officeDocumentExtended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4" r:id="rId3"/>
    <p:sldId id="257" r:id="rId4"/>
    <p:sldId id="284" r:id="rId5"/>
    <p:sldId id="285" r:id="rId6"/>
    <p:sldId id="258" r:id="rId7"/>
    <p:sldId id="275" r:id="rId8"/>
    <p:sldId id="276" r:id="rId9"/>
    <p:sldId id="277" r:id="rId10"/>
    <p:sldId id="278" r:id="rId11"/>
    <p:sldId id="279" r:id="rId12"/>
    <p:sldId id="263" r:id="rId13"/>
    <p:sldId id="281" r:id="rId14"/>
    <p:sldId id="280" r:id="rId15"/>
    <p:sldId id="268" r:id="rId16"/>
    <p:sldId id="282" r:id="rId17"/>
    <p:sldId id="283" r:id="rId18"/>
    <p:sldId id="273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22"/>
        <p:guide pos="29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474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商机广场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sz="2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操作手册</a:t>
            </a:r>
            <a:endParaRPr lang="zh-CN" sz="2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3383280"/>
            <a:ext cx="2286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长城长 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37455" y="1998345"/>
            <a:ext cx="5943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产品使用文档</a:t>
            </a:r>
            <a:r>
              <a:rPr 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altLang="en-US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操作手册</a:t>
            </a:r>
            <a:endParaRPr lang="zh-CN" altLang="en-US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37455" y="347472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2026 年 7 月</a:t>
            </a:r>
            <a:endParaRPr sz="14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12715" y="4023360"/>
            <a:ext cx="5943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</a:rPr>
              <a:t>商机广场 · 手机端</a:t>
            </a:r>
            <a:endParaRPr sz="1200" b="0">
              <a:solidFill>
                <a:srgbClr val="88888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89920" y="6035040"/>
            <a:ext cx="914400" cy="73152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本框 10"/>
          <p:cNvSpPr txBox="1"/>
          <p:nvPr/>
        </p:nvSpPr>
        <p:spPr>
          <a:xfrm>
            <a:off x="5134610" y="2455545"/>
            <a:ext cx="4270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该操作手册旨在指导用户上手该系统，用户可结合自己的使用目的选择部分进行</a:t>
            </a:r>
            <a:r>
              <a:rPr lang="zh-CN" altLang="en-US"/>
              <a:t>学习查看。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0570" y="432435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C8102E"/>
                </a:solidFill>
                <a:latin typeface="微软雅黑" panose="020B0503020204020204" charset="-122"/>
              </a:rPr>
              <a:t>目录</a:t>
            </a:r>
            <a:endParaRPr sz="32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914400" y="19202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1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737360" y="1920240"/>
            <a:ext cx="82296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商机提报人                                                             5~10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914400" y="288036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2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1737360" y="2880360"/>
            <a:ext cx="82296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商机认领人                                                             11~13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914400" y="384048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C8102E"/>
                </a:solidFill>
                <a:latin typeface="微软雅黑" panose="020B0503020204020204" charset="-122"/>
              </a:rPr>
              <a:t>3</a:t>
            </a:r>
            <a:endParaRPr sz="2800" b="1">
              <a:solidFill>
                <a:srgbClr val="C8102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737360" y="3840480"/>
            <a:ext cx="8229600" cy="460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t>审核员                                                                   14~16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微软雅黑" panose="020B0503020204020204" charset="-122"/>
              </a:rPr>
              <a:t>怎么用这份手册</a:t>
            </a:r>
            <a:endParaRPr sz="24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微软雅黑" panose="020B0503020204020204" charset="-122"/>
              </a:rPr>
              <a:t>先判断你此刻处在哪个场景，再选对应角色看对应章节；同一人可在不同 deal 中切换角色。</a:t>
            </a:r>
            <a:endParaRPr sz="1400" b="0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508760"/>
          <a:ext cx="106070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834640"/>
                <a:gridCol w="201168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你正在做的事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你扮演的角色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7000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看本文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C7000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我手上有客户 / 标的，想主动推一个并购重组需求出去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商机提报人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第一章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我在逛广场，看到别人发的商机，觉得我们团队能接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商机认领人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第二章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我是运营 / 合规岗，负责把关上架质量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审核员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第三章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同一个人、不同 deal 角色不同：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上午发了条壳公司出售（提报人），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下午看到别人的并购标的去对接（认领人）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既是提报人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也是认领人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020"/>
                          </a:solidFill>
                          <a:latin typeface="微软雅黑" panose="020B0503020204020204" charset="-122"/>
                        </a:rPr>
                        <a:t>第一 + 第二章</a:t>
                      </a:r>
                      <a:endParaRPr sz="1300">
                        <a:solidFill>
                          <a:srgbClr val="202020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7000B"/>
                </a:solidFill>
                <a:latin typeface="微软雅黑" panose="020B0503020204020204" charset="-122"/>
              </a:rPr>
              <a:t>商机生命周期总览</a:t>
            </a:r>
            <a:endParaRPr sz="24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868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02020"/>
                </a:solidFill>
                <a:latin typeface="微软雅黑" panose="020B0503020204020204" charset="-122"/>
              </a:rPr>
              <a:t>一条商机从发起到撮合成功，三个角色在不同节点接力。先看全局，再进各角色章节。</a:t>
            </a:r>
            <a:endParaRPr sz="1400" b="0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2388235"/>
            <a:ext cx="10607040" cy="1828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提报人
发布商机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65176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审核员
审核
通过 / 驳回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8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上架
商机广场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认领人
发起对接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7532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提报人
同意对接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149840" y="2616835"/>
            <a:ext cx="1463040" cy="1371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C7000B"/>
                </a:solidFill>
                <a:latin typeface="微软雅黑" panose="020B0503020204020204" charset="-122"/>
              </a:rPr>
              <a:t>撮合
成功</a:t>
            </a:r>
            <a:endParaRPr sz="1300" b="1">
              <a:solidFill>
                <a:srgbClr val="C7000B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31720" y="30740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02020"/>
                </a:solidFill>
                <a:latin typeface="微软雅黑" panose="020B0503020204020204" charset="-122"/>
              </a:rPr>
              <a:t>→</a:t>
            </a:r>
            <a:endParaRPr sz="2400" b="1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30740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02020"/>
                </a:solidFill>
                <a:latin typeface="微软雅黑" panose="020B0503020204020204" charset="-122"/>
              </a:rPr>
              <a:t>→</a:t>
            </a:r>
            <a:endParaRPr sz="2400" b="1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80759" y="30740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02020"/>
                </a:solidFill>
                <a:latin typeface="微软雅黑" panose="020B0503020204020204" charset="-122"/>
              </a:rPr>
              <a:t>→</a:t>
            </a:r>
            <a:endParaRPr sz="2400" b="1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55279" y="30740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02020"/>
                </a:solidFill>
                <a:latin typeface="微软雅黑" panose="020B0503020204020204" charset="-122"/>
              </a:rPr>
              <a:t>→</a:t>
            </a:r>
            <a:endParaRPr sz="2400" b="1">
              <a:solidFill>
                <a:srgbClr val="20202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29800" y="307403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02020"/>
                </a:solidFill>
                <a:latin typeface="微软雅黑" panose="020B0503020204020204" charset="-122"/>
              </a:rPr>
              <a:t>→</a:t>
            </a:r>
            <a:endParaRPr sz="2400" b="1">
              <a:solidFill>
                <a:srgbClr val="20202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一</a:t>
            </a:r>
            <a:r>
              <a:rPr lang="en-US" altLang="zh-CN" sz="4000" b="1">
                <a:solidFill>
                  <a:srgbClr val="FFFFFF"/>
                </a:solidFill>
                <a:latin typeface="微软雅黑" panose="020B0503020204020204" charset="-122"/>
              </a:rPr>
              <a:t>.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商机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提报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人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发现并购重组需求、在商机广场发布商机的业务人员。负责填写商机信息、跟踪自己发布商机的状态（已发布 / 审核中 / 驳回 / 已下架）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，有人申领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后，</a:t>
            </a:r>
            <a:r>
              <a:rPr>
                <a:solidFill>
                  <a:srgbClr val="FFFFFF"/>
                </a:solidFill>
                <a:latin typeface="微软雅黑" panose="020B0503020204020204" charset="-122"/>
                <a:sym typeface="+mn-ea"/>
              </a:rPr>
              <a:t>确认撮合，完成商机流转。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你会在这些场景用到本角色：代表客户主动发起一个并购重组需求时。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开始前准备：先想清楚商机类型、意向行业、交易规模，以及有效期（30 / 60 / 90 天）。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altLang="zh-CN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在哪里找到</a:t>
            </a:r>
            <a:r>
              <a:rPr lang="zh-CN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商机广场？</a:t>
            </a:r>
            <a:endParaRPr lang="zh-CN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商机提报人可以在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长城长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--&gt;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--&gt;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手拉手协同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板块，点击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商机广场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进入商机广场主页面。（图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点击中间的红色加号，进入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商机填报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页面。（图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2799" y="340360"/>
            <a:ext cx="2741590" cy="59436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4949190" y="340360"/>
            <a:ext cx="2819400" cy="60534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一、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提报人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79095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altLang="zh-CN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发布商机需要填报的信息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表单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04850" y="744855"/>
            <a:ext cx="2453005" cy="164782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需要在商机概况中选择对应的商机类型、填写商机标题以及选择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有效期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（有效期前</a:t>
            </a: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天会进行提醒，有效期满后系统会将商机自动下架，该将不能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被申请对接。）。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2640" y="19659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endParaRPr sz="1100" b="0">
              <a:solidFill>
                <a:srgbClr val="E8E8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0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640" y="2124710"/>
            <a:ext cx="2065020" cy="4478020"/>
          </a:xfrm>
          <a:prstGeom prst="rect">
            <a:avLst/>
          </a:prstGeom>
        </p:spPr>
      </p:pic>
      <p:pic>
        <p:nvPicPr>
          <p:cNvPr id="12" name="Picture 9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25" y="1965960"/>
            <a:ext cx="2155190" cy="4674870"/>
          </a:xfrm>
          <a:prstGeom prst="rect">
            <a:avLst/>
          </a:prstGeom>
        </p:spPr>
      </p:pic>
      <p:pic>
        <p:nvPicPr>
          <p:cNvPr id="13" name="Picture 9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385" y="2124710"/>
            <a:ext cx="2115820" cy="4586605"/>
          </a:xfrm>
          <a:prstGeom prst="rect">
            <a:avLst/>
          </a:prstGeom>
        </p:spPr>
      </p:pic>
      <p:pic>
        <p:nvPicPr>
          <p:cNvPr id="14" name="Picture 9" descr="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80" y="2094865"/>
            <a:ext cx="2128520" cy="4616450"/>
          </a:xfrm>
          <a:prstGeom prst="rect">
            <a:avLst/>
          </a:prstGeom>
        </p:spPr>
      </p:pic>
      <p:sp>
        <p:nvSpPr>
          <p:cNvPr id="15" name="Rectangle 6"/>
          <p:cNvSpPr/>
          <p:nvPr/>
        </p:nvSpPr>
        <p:spPr>
          <a:xfrm>
            <a:off x="3159125" y="744855"/>
            <a:ext cx="2167255" cy="124269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接下来填写企业信息，包括企业名称、所在地区以及所属行业。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Rectangle 6"/>
          <p:cNvSpPr/>
          <p:nvPr/>
        </p:nvSpPr>
        <p:spPr>
          <a:xfrm>
            <a:off x="5747385" y="730885"/>
            <a:ext cx="2116455" cy="13944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400">
                <a:solidFill>
                  <a:schemeClr val="tx1"/>
                </a:solidFill>
              </a:rPr>
              <a:t>3.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在详细需求页面中选择意向行业，填写得越详细，获得推荐以及商机撮合成功的概率越高。</a:t>
            </a:r>
            <a:endParaRPr lang="zh-CN" sz="1400">
              <a:solidFill>
                <a:schemeClr val="tx1"/>
              </a:solidFill>
            </a:endParaRPr>
          </a:p>
        </p:txBody>
      </p:sp>
      <p:sp>
        <p:nvSpPr>
          <p:cNvPr id="17" name="Rectangle 6"/>
          <p:cNvSpPr/>
          <p:nvPr/>
        </p:nvSpPr>
        <p:spPr>
          <a:xfrm>
            <a:off x="8399780" y="730885"/>
            <a:ext cx="2136775" cy="136461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接下来选择渠道关系以及自己的相关信息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（操作者可随时退回上一步修改表单信息）</a:t>
            </a:r>
            <a:endParaRPr lang="zh-CN" sz="14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发布商机后需要等待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审核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提交成功后，需要等待审核员处理。审核成功后，才会发布到商机广场，并且会通过长城长消息通知您。（图1）</a:t>
            </a:r>
          </a:p>
          <a:p>
            <a:r>
              <a:t> </a:t>
            </a:r>
          </a:p>
          <a:p>
            <a:r>
              <a:t>已经提交但还没有审核成功的商机将会存在于未发布列表中。（图2）</a:t>
            </a:r>
          </a:p>
          <a:p/>
          <a:p>
            <a:r>
              <a:t>被审核驳回的商机，需要重新编辑表单，再次进行提交。（图3）</a:t>
            </a:r>
          </a:p>
          <a:p>
            <a:r>
              <a:t>直到审核成功后将会流转到“已发布“，并上架商机广场</a:t>
            </a:r>
          </a:p>
          <a:p/>
        </p:txBody>
      </p:sp>
      <p:pic>
        <p:nvPicPr>
          <p:cNvPr id="10" name="Picture 9" descr="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009015"/>
            <a:ext cx="2293620" cy="4972050"/>
          </a:xfrm>
          <a:prstGeom prst="rect">
            <a:avLst/>
          </a:prstGeom>
        </p:spPr>
      </p:pic>
      <p:pic>
        <p:nvPicPr>
          <p:cNvPr id="12" name="Picture 9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0" y="1009015"/>
            <a:ext cx="2178050" cy="472249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9647555" y="1009650"/>
            <a:ext cx="2249170" cy="4971415"/>
          </a:xfrm>
          <a:prstGeom prst="rect">
            <a:avLst/>
          </a:prstGeom>
        </p:spPr>
      </p:pic>
      <p:sp>
        <p:nvSpPr>
          <p:cNvPr id="8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提交成功后，需要等待审核员处理。审核成功后，才会发布到商机广场，并且会通过长城长消息通知您。（图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已经提交但还没有审核成功的商机将会存在于未发布列表中。（图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被审核驳回的商机，需要重新编辑表单，再次进行提交。（图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直到审核成功后将会流转到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已发布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”--&gt;”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已发布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并上架商机广场</a:t>
            </a:r>
            <a:endParaRPr lang="zh-CN">
              <a:solidFill>
                <a:schemeClr val="tx1"/>
              </a:solidFill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227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查看其他人的对接申请进行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线下洽谈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当有其他人在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商机广场发起申领时。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商机提报人可在商机详情中看到对接申请，同意后（图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），双方将进行线下洽谈。选择同意后可确认撮合。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290" y="502920"/>
            <a:ext cx="2742028" cy="5943600"/>
          </a:xfrm>
          <a:prstGeom prst="rect">
            <a:avLst/>
          </a:prstGeom>
        </p:spPr>
      </p:pic>
      <p:pic>
        <p:nvPicPr>
          <p:cNvPr id="13" name="Picture 9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125" y="50292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商机提报人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altLang="zh-CN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5.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成功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撮合商机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3188335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最终选择一个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对接申请确认撮合后，该商业机会的状态将显示为撮合成功。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已发布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“--&gt;”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已撮合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其他对接申请自动置为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匹配失败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5525" y="389255"/>
            <a:ext cx="2742028" cy="5943600"/>
          </a:xfrm>
          <a:prstGeom prst="rect">
            <a:avLst/>
          </a:prstGeom>
        </p:spPr>
      </p:pic>
      <p:pic>
        <p:nvPicPr>
          <p:cNvPr id="12" name="Picture 9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55" y="389255"/>
            <a:ext cx="2742028" cy="5943600"/>
          </a:xfrm>
          <a:prstGeom prst="rect">
            <a:avLst/>
          </a:prstGeom>
        </p:spPr>
      </p:pic>
      <p:pic>
        <p:nvPicPr>
          <p:cNvPr id="13" name="Picture 9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865" y="389255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altLang="zh-CN" sz="4000" b="1">
                <a:solidFill>
                  <a:srgbClr val="FFFFFF"/>
                </a:solidFill>
                <a:latin typeface="微软雅黑" panose="020B0503020204020204" charset="-122"/>
              </a:rPr>
              <a:t>2.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商机</a:t>
            </a:r>
            <a:r>
              <a:rPr lang="zh-CN" sz="4000" b="1">
                <a:solidFill>
                  <a:srgbClr val="FFFFFF"/>
                </a:solidFill>
                <a:latin typeface="微软雅黑" panose="020B0503020204020204" charset="-122"/>
              </a:rPr>
              <a:t>认领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人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645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接收并认领商机的同事（如投行条线）。在首页浏览 / 筛选商机、分享给同事，对意向商机发起「我要对接」并填写理由；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对方同意对接后，及时联系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</a:rPr>
              <a:t>商机提报人。</a:t>
            </a:r>
            <a:endParaRPr lang="zh-CN" sz="18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你会在这些场景用到本角色：在广场浏览到别人发的、你们团队能接的商机时。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开始前准备：你看到的是脱敏信息，同意对接后才看完整联系方式；请先线下谈妥再确认撮合（撮合不可逆）。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商机认领人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浏览商机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广场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2440940"/>
            <a:ext cx="3749040" cy="3538855"/>
          </a:xfrm>
          <a:prstGeom prst="rect">
            <a:avLst/>
          </a:prstGeom>
          <a:solidFill>
            <a:schemeClr val="bg1"/>
          </a:solidFill>
        </p:spPr>
        <p:txBody>
          <a:bodyPr wrap="square"/>
          <a:lstStyle/>
          <a:p>
            <a:pPr algn="l"/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认领人进入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长城长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中的商机广场主页面，可以看到商机广场的统计信息，并且进行筛选。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可点击商机查看详情，也可分享给同事，或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收藏</a:t>
            </a:r>
            <a:endParaRPr lang="zh-CN" alt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14836" y="347472"/>
            <a:ext cx="2961046" cy="616305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4564" y="457200"/>
            <a:ext cx="2741590" cy="5943600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7249795" y="441325"/>
            <a:ext cx="2691130" cy="5937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</a:t>
            </a:r>
            <a:r>
              <a:rPr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</a:t>
            </a:r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认领人</a:t>
            </a:r>
            <a:endParaRPr lang="zh-CN" altLang="en-US" sz="12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对接你看中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的商机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企业员工都可作为商机认领人，将会在商机广场中看到该商机（部分信息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脱敏处理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），并选择对接申请，需要填写申请理由。（图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对接申请提交后，将等待商机提报人处理。商机流转到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页面，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我对接的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”--&gt;“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待处理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当商机提报人同意对接之后，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商机认领人将会可以商机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完整信息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，对接申请中的状态变为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已同意对接，请及时联系发布人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。需要及时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联系商机提报人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进行线下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洽谈。（图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Picture 9" descr="1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534035"/>
            <a:ext cx="2295525" cy="5053965"/>
          </a:xfrm>
          <a:prstGeom prst="rect">
            <a:avLst/>
          </a:prstGeom>
        </p:spPr>
      </p:pic>
      <p:pic>
        <p:nvPicPr>
          <p:cNvPr id="12" name="Picture 9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565" y="548640"/>
            <a:ext cx="2400300" cy="502094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9587865" y="534035"/>
            <a:ext cx="2326005" cy="5008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7067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微软雅黑" panose="020B0503020204020204" charset="-122"/>
              </a:rPr>
              <a:t>3.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审核员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9601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负责审核商机的运营 / 合规人员。收到审核通知后，在详情页对商机「通过」（评级 推荐 / 普通）或「驳回」（填写原因），把控商机质量与合规底线。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FFFFFF"/>
                </a:solidFill>
                <a:latin typeface="微软雅黑" panose="020B0503020204020204" charset="-122"/>
              </a:rPr>
              <a:t>你会在这些场景用到本角色：作为运营 / 合规岗，收到审核通知时。</a:t>
            </a:r>
            <a:endParaRPr sz="1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三，</a:t>
            </a:r>
            <a:r>
              <a:rPr lang="zh-CN" sz="1200" b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审核员</a:t>
            </a:r>
            <a:endParaRPr lang="zh-CN"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审核每一个想要上架的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4114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ClrTx/>
              <a:buSzTx/>
              <a:buNone/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审核员将会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收到审核通知。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buClrTx/>
              <a:buSzTx/>
              <a:buNone/>
            </a:pP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”--&gt;“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我审核的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</a:p>
        </p:txBody>
      </p:sp>
      <p:pic>
        <p:nvPicPr>
          <p:cNvPr id="10" name="Picture 9" descr="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730" y="457200"/>
            <a:ext cx="2742028" cy="5943600"/>
          </a:xfrm>
          <a:prstGeom prst="rect">
            <a:avLst/>
          </a:prstGeom>
        </p:spPr>
      </p:pic>
      <p:pic>
        <p:nvPicPr>
          <p:cNvPr id="12" name="Picture 9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780" y="457200"/>
            <a:ext cx="27420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zh-CN" sz="120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三，审核员</a:t>
            </a:r>
            <a:endParaRPr sz="1200" b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审核一条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商机需要完成的</a:t>
            </a:r>
            <a:r>
              <a:rPr lang="zh-CN" altLang="en-US" sz="22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操作</a:t>
            </a:r>
            <a:endParaRPr lang="zh-CN" altLang="en-US" sz="22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48463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</a:rPr>
              <a:t>操作说明</a:t>
            </a:r>
            <a:endParaRPr sz="1400" b="1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9125" y="1795145"/>
            <a:ext cx="398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审核员将择优选择推荐商机或者驳回（图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若选择通过，该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商机将会上架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商机广场；（图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若选择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驳回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商机提报人将会收到通知，并修改提报表单，重新审核(图2）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" name="Picture 9" descr="0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855" y="408940"/>
            <a:ext cx="2621915" cy="5683885"/>
          </a:xfrm>
          <a:prstGeom prst="rect">
            <a:avLst/>
          </a:prstGeom>
        </p:spPr>
      </p:pic>
      <p:pic>
        <p:nvPicPr>
          <p:cNvPr id="12" name="Picture 9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0895" y="408940"/>
            <a:ext cx="2671445" cy="5792470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7075805" y="408940"/>
            <a:ext cx="2432050" cy="58185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245235" y="2112645"/>
            <a:ext cx="10698480" cy="953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zh-CN" altLang="en-US" sz="2800" b="1">
                <a:solidFill>
                  <a:srgbClr val="FFFFFF"/>
                </a:solidFill>
                <a:latin typeface="微软雅黑" panose="020B0503020204020204" charset="-122"/>
              </a:rPr>
              <a:t>商机广场把"碰得到 </a:t>
            </a:r>
            <a:r>
              <a:rPr lang="en-US" altLang="zh-CN" sz="2800" b="1">
                <a:solidFill>
                  <a:srgbClr val="FFFFFF"/>
                </a:solidFill>
                <a:latin typeface="微软雅黑" panose="020B0503020204020204" charset="-122"/>
              </a:rPr>
              <a:t>deal"</a:t>
            </a:r>
            <a:r>
              <a:rPr lang="zh-CN" altLang="en-US" sz="2800" b="1">
                <a:solidFill>
                  <a:srgbClr val="FFFFFF"/>
                </a:solidFill>
                <a:latin typeface="微软雅黑" panose="020B0503020204020204" charset="-122"/>
              </a:rPr>
              <a:t>变成"接得住 </a:t>
            </a:r>
            <a:r>
              <a:rPr lang="en-US" altLang="zh-CN" sz="2800" b="1">
                <a:solidFill>
                  <a:srgbClr val="FFFFFF"/>
                </a:solidFill>
                <a:latin typeface="微软雅黑" panose="020B0503020204020204" charset="-122"/>
              </a:rPr>
              <a:t>deal"</a:t>
            </a:r>
            <a:endParaRPr lang="en-US" altLang="zh-CN" sz="28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/>
            <a:r>
              <a:rPr lang="en-US" altLang="zh-CN" sz="2800" b="1">
                <a:solidFill>
                  <a:srgbClr val="FFFFFF"/>
                </a:solidFill>
                <a:latin typeface="微软雅黑" panose="020B0503020204020204" charset="-122"/>
              </a:rPr>
              <a:t>——</a:t>
            </a:r>
            <a:r>
              <a:rPr lang="zh-CN" altLang="en-US" sz="2800" b="1">
                <a:solidFill>
                  <a:srgbClr val="FFFFFF"/>
                </a:solidFill>
                <a:latin typeface="微软雅黑" panose="020B0503020204020204" charset="-122"/>
              </a:rPr>
              <a:t>发布、认领、撮合，一条线跑通。祝展业顺利</a:t>
            </a:r>
            <a:endParaRPr lang="zh-CN" altLang="en-US"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77815" y="5405120"/>
            <a:ext cx="57270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sym typeface="+mn-ea"/>
              </a:rPr>
              <a:t>本手册持续更新，使用中遇到问题或建议，请反馈至产品组。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ags/tag2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ags/tag3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ags/tag4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ags/tag5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ags/tag6.xml><?xml version="1.0" encoding="utf-8"?>
<p:tagLst xmlns:p="http://schemas.openxmlformats.org/presentationml/2006/main">
  <p:tag name="KSO_WM_DIAGRAM_VIRTUALLY_FRAME" val="{&quot;height&quot;:216.55,&quot;left&quot;:72,&quot;top&quot;:151.2,&quot;width&quot;:712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2418</Words>
  <Application>WPS 演示</Application>
  <PresentationFormat>On-screen Show (4:3)</PresentationFormat>
  <Paragraphs>224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杨锟</cp:lastModifiedBy>
  <cp:revision>14</cp:revision>
  <dcterms:created xsi:type="dcterms:W3CDTF">2013-01-27T09:14:00Z</dcterms:created>
  <dcterms:modified xsi:type="dcterms:W3CDTF">2026-07-16T06:43:45Z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D992EDFD343A4AC499D13558213153A4_13</vt:lpwstr>
  </property>
  <property fmtid="{D5CDD505-2E9C-101B-9397-08002B2CF9AE}" pid="4" name="_KSOProductBuildMID">
    <vt:lpwstr>SZWMQ6GE797Q0V9G9ZRNKLJ87ZCMO7VRQE06NJDWXGH8TG5T66BJIC0EFSVHPDRRXOM6EOZLZH578LXJRSFT6FFT89C0WLCBAOOOIHB36C0EABEDAD19B87DA96457D7057DD6B2</vt:lpwstr>
  </property>
  <property fmtid="{D5CDD505-2E9C-101B-9397-08002B2CF9AE}" pid="5" name="_KSOProductBuildSID">
    <vt:lpwstr>CGWMD6GJ7RYA059G9ZR8PLJ87NM0OAVR9S06XJDWXF8RTE5TZ7BJICJ6FY9HPB8RBFMX5OLIZI6D8MEJRNFTVFFZ8RMMWHLBBSOORHB359A5766DF0F4A9BFE35235DEF3ADFAD7</vt:lpwstr>
  </property>
</Properties>
</file>