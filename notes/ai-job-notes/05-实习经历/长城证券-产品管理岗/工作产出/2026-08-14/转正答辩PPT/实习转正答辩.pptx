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20" Type="http://schemas.openxmlformats.org/officeDocument/2006/relationships/tableStyles" Target="tableStyles.xml" /><Relationship Id="rId7" Type="http://schemas.openxmlformats.org/officeDocument/2006/relationships/slide" Target="slides/slide7.xml" /><Relationship Id="rId2" Type="http://schemas.openxmlformats.org/officeDocument/2006/relationships/slide" Target="slides/slide2.xml" /><Relationship Id="rId9" Type="http://schemas.openxmlformats.org/officeDocument/2006/relationships/slide" Target="slides/slide9.xml" /><Relationship Id="rId3" Type="http://schemas.openxmlformats.org/officeDocument/2006/relationships/slide" Target="slides/slide3.xml" /><Relationship Id="rId19" Type="http://schemas.openxmlformats.org/officeDocument/2006/relationships/presProps" Target="presProps.xml" /><Relationship Id="rId11" Type="http://schemas.openxmlformats.org/officeDocument/2006/relationships/slide" Target="slides/slide11.xml" /><Relationship Id="rId17" Type="http://schemas.openxmlformats.org/officeDocument/2006/relationships/slide" Target="slides/slide17.xml" /><Relationship Id="rId18" Type="http://schemas.openxmlformats.org/officeDocument/2006/relationships/notesMaster" Target="notesMasters/notesMaster1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21" Type="http://schemas.openxmlformats.org/officeDocument/2006/relationships/viewProps" Target="viewProps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6.png" /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 style={{ width: '1280px', height: '720px', padding: 0, background: 'linear-gradient(135deg, #2563EB 0%, #0EA5E9 100%)' }}&gt;&#10;  &lt;Box style={{ position: 'absolute', top: 0, left: 0, width: '100%', height: '100%', justifyContent: 'center', padding: '0 96px' }}&gt;&#10;    &lt;Text style={{ fontSize: 20, color: '#E0F2FE', letterSpacing: 4 }}&gt;实习转正答辩&lt;/Text&gt;&#10;    &lt;Text style={{ fontSize: 64, fontWeight: 'bold', color: '#FFFFFF', marginTop: 18, lineHeight: 1.15 }}&gt;飞书群聊项目管理智能体&lt;/Text&gt;&#10;    &lt;Box style={{ width: 120, height: 6, background: '#F97316', marginTop: 28, borderRadius: 3 }} /&gt;&#10;    &lt;Text style={{ fontSize: 28, color: '#F0F9FF', marginTop: 28 }}&gt;把群聊里的需求、决策、任务、工时，自动沉淀成结构化记录&lt;/Text&gt;&#10;    &lt;Text style={{ fontSize: 22, color: '#DBEAFE', marginTop: 64 }}&gt;汇报人：杨锟　|　金融科技研发中心　|　2026.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914400" y="1914525"/>
            <a:ext cx="1036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300">
                <a:solidFill>
                  <a:srgbClr val="E0F2FE"/>
                </a:solidFill>
                <a:latin typeface="Microsoft YaHei"/>
                <a:ea typeface="Microsoft YaHei"/>
              </a:rPr>
              <a:t>实习转正答辩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14400" y="2314575"/>
            <a:ext cx="103632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飞书群聊项目管理智能体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914400" y="34290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14400" y="3752850"/>
            <a:ext cx="10363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F0F9FF"/>
                </a:solidFill>
                <a:latin typeface="Microsoft YaHei"/>
                <a:ea typeface="Microsoft YaHei"/>
              </a:rPr>
              <a:t>把群聊里的需求、决策、任务、工时，自动沉淀成结构化记录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14400" y="46863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DBEAFE"/>
                </a:solidFill>
                <a:latin typeface="Microsoft YaHei"/>
                <a:ea typeface="Microsoft YaHei"/>
              </a:rPr>
              <a:t>汇报人：杨锟　</a:t>
            </a:r>
            <a:r>
              <a:rPr lang="en-US" sz="1650">
                <a:solidFill>
                  <a:srgbClr val="DBEAFE"/>
                </a:solidFill>
                <a:latin typeface="Microsoft YaHei"/>
                <a:ea typeface="Microsoft YaHei"/>
              </a:rPr>
              <a:t>|</a:t>
            </a:r>
            <a:r>
              <a:rPr lang="zh-CN" sz="1650">
                <a:solidFill>
                  <a:srgbClr val="DBEAFE"/>
                </a:solidFill>
                <a:latin typeface="Microsoft YaHei"/>
                <a:ea typeface="Microsoft YaHei"/>
              </a:rPr>
              <a:t>　金融科技研发中心　</a:t>
            </a:r>
            <a:r>
              <a:rPr lang="en-US" sz="1650">
                <a:solidFill>
                  <a:srgbClr val="DBEAFE"/>
                </a:solidFill>
                <a:latin typeface="Microsoft YaHei"/>
                <a:ea typeface="Microsoft YaHei"/>
              </a:rPr>
              <a:t>|</a:t>
            </a:r>
            <a:r>
              <a:rPr lang="zh-CN" sz="1650">
                <a:solidFill>
                  <a:srgbClr val="DBEAFE"/>
                </a:solidFill>
                <a:latin typeface="Microsoft YaHei"/>
                <a:ea typeface="Microsoft YaHei"/>
              </a:rPr>
              <a:t>　</a:t>
            </a:r>
            <a:r>
              <a:rPr lang="en-US" sz="1650">
                <a:solidFill>
                  <a:srgbClr val="DBEAFE"/>
                </a:solidFill>
                <a:latin typeface="Microsoft YaHei"/>
                <a:ea typeface="Microsoft YaHei"/>
              </a:rPr>
              <a:t>2026.08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11" name="" descr="&lt;Slide style={{ width: '1280px', height: '720px', padding: '40px 72px', background: '#FFFFFF' }}&gt;&#10;  &lt;Box style={{ flexDirection: 'row', height: '100%' }}&gt;&#10;    &lt;Box style={{ width: '30%', justifyContent: 'center' }}&gt;&#10;      &lt;Text style={{ fontSize: 48, fontWeight: 'bold', color: '#1E3A8A' }}&gt;目录&lt;/Text&gt;&#10;      &lt;Box style={{ width: 64, height: 6, background: '#F97316', marginTop: 16, borderRadius: 3 }} /&gt;&#10;      &lt;Text style={{ fontSize: 18, color: '#64748B', marginTop: 20 }}&gt;CONTENTS&lt;/Text&gt;&#10;    &lt;/Box&gt;&#10;    &lt;Box style={{ width: '70%', justifyContent: 'center', gap: 22 }}&gt;&#10;      {[&#10;        { n: '01', t: '背景与痛点', d: '项目协作为什么散、慢、不可追溯' },&#10;        { n: '02', t: '产品方案与核心能力', d: '群聊里的 AI 助手怎么干活' },&#10;        { n: '03', t: '方法论亮点', d: '需求≠任务、Hybrid、文档分离' },&#10;        { n: '04', t: '落地进展与验证', d: 'Aily 上线 / 手册 / 自研探索' },&#10;        { n: '05', t: '个人收获与规划', d: '从 0 到 1 的成长与下一步' },&#10;      ].map((it, i) =&gt; (&#10;        &lt;Box key={i} style={{ flexDirection: 'row', alignItems: 'center', gap: 20 }}&gt;&#10;          &lt;Text style={{ fontSize: 30, fontWeight: 'bold', color: '#2563EB', width: 56 }}&gt;{it.n}&lt;/Text&gt;&#10;          &lt;Box style={{ flex: 1, borderLeft: '3px solid #E0F2FE', paddingLeft: 18 }}&gt;&#10;            &lt;Text style={{ fontSize: 24, fontWeight: 'bold', color: '#1E293B' }}&gt;{it.t}&lt;/Text&gt;&#10;            &lt;Text style={{ fontSize: 16, color: '#64748B', marginTop: 4 }}&gt;{it.d}&lt;/Text&gt;&#10;          &lt;/Box&gt;&#10;        &lt;/Box&gt;&#10;      ))}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85800" y="2847975"/>
            <a:ext cx="3248025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1E3A8A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85800" y="355282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85800" y="3800475"/>
            <a:ext cx="3248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933825" y="183832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4657725" y="1752600"/>
            <a:ext cx="6877050" cy="504825"/>
          </a:xfrm>
          <a:custGeom>
            <a:pathLst>
              <a:path w="722" h="53">
                <a:moveTo>
                  <a:pt x="0" y="0"/>
                </a:moveTo>
                <a:lnTo>
                  <a:pt x="3" y="0"/>
                </a:lnTo>
                <a:lnTo>
                  <a:pt x="3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0F2FE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857750" y="1752600"/>
            <a:ext cx="6648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背景与痛点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857750" y="2066925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项目协作为什么散、慢、不可追溯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933825" y="25527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4657725" y="2466975"/>
            <a:ext cx="6877050" cy="504825"/>
          </a:xfrm>
          <a:custGeom>
            <a:pathLst>
              <a:path w="722" h="53">
                <a:moveTo>
                  <a:pt x="0" y="0"/>
                </a:moveTo>
                <a:lnTo>
                  <a:pt x="3" y="0"/>
                </a:lnTo>
                <a:lnTo>
                  <a:pt x="3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0F2FE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857750" y="2466975"/>
            <a:ext cx="6648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产品方案与核心能力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857750" y="2781300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群聊里的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助手怎么干活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933825" y="32670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657725" y="3181350"/>
            <a:ext cx="6877050" cy="504825"/>
          </a:xfrm>
          <a:custGeom>
            <a:pathLst>
              <a:path w="722" h="53">
                <a:moveTo>
                  <a:pt x="0" y="0"/>
                </a:moveTo>
                <a:lnTo>
                  <a:pt x="3" y="0"/>
                </a:lnTo>
                <a:lnTo>
                  <a:pt x="3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0F2FE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857750" y="3181350"/>
            <a:ext cx="6648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方法论亮点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857750" y="3495675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需求≠任务、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Hybrid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、文档分离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933825" y="39814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4657725" y="3895725"/>
            <a:ext cx="6877050" cy="504825"/>
          </a:xfrm>
          <a:custGeom>
            <a:pathLst>
              <a:path w="722" h="53">
                <a:moveTo>
                  <a:pt x="0" y="0"/>
                </a:moveTo>
                <a:lnTo>
                  <a:pt x="3" y="0"/>
                </a:lnTo>
                <a:lnTo>
                  <a:pt x="3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0F2FE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857750" y="3895725"/>
            <a:ext cx="6648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落地进展与验证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857750" y="4210050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Aily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上线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手册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自研探索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3933825" y="469582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4657725" y="4610100"/>
            <a:ext cx="6877050" cy="504825"/>
          </a:xfrm>
          <a:custGeom>
            <a:pathLst>
              <a:path w="722" h="53">
                <a:moveTo>
                  <a:pt x="0" y="0"/>
                </a:moveTo>
                <a:lnTo>
                  <a:pt x="3" y="0"/>
                </a:lnTo>
                <a:lnTo>
                  <a:pt x="3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0F2FE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857750" y="4610100"/>
            <a:ext cx="6648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个人收获与规划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857750" y="4924425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从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到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1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的成长与下一步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36" name="" descr="&lt;Slide style={{ width: '1280px', height: '720px', padding: 0, background: '#F8FAFC' }}&gt;&#10;  &lt;Box style={{ position: 'absolute', top: 0, left: 0, width: '100%', height: '100%', justifyContent: 'center', padding: '0 96px', flexDirection: 'row', alignItems: 'center', gap: 40 }}&gt;&#10;    &lt;Box style={{ width: 200, height: 200, borderRadius: 24, background: 'linear-gradient(135deg, #2563EB 0%, #0EA5E9 100%)', justifyContent: 'center', alignItems: 'center' }}&gt;&#10;      &lt;Text style={{ fontSize: 96, fontWeight: 'bold', color: '#FFFFFF' }}&gt;01&lt;/Text&gt;&#10;    &lt;/Box&gt;&#10;    &lt;Box&gt;&#10;      &lt;Text style={{ fontSize: 56, fontWeight: 'bold', color: '#1E3A8A' }}&gt;背景与痛点&lt;/Text&gt;&#10;      &lt;Text style={{ fontSize: 22, color: '#64748B', marginTop: 16 }}&gt;项目协作，为什么总是散、慢、不可追溯？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2962275" y="2476500"/>
            <a:ext cx="1905000" cy="190500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409950" y="2876550"/>
            <a:ext cx="10191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248275" y="2905125"/>
            <a:ext cx="39814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1E3A8A"/>
                </a:solidFill>
                <a:latin typeface="Microsoft YaHei"/>
                <a:ea typeface="Microsoft YaHei"/>
              </a:rPr>
              <a:t>背景与痛点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248275" y="37052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项目协作，为什么总是散、慢、不可追溯？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2" name="" descr="&lt;Slide style={{ width: '1280px', height: '720px', padding: '28px 72px', background: '#FFFFFF' }}&gt;&#10;  &lt;Box style={{ height: 64 }}&gt;&#10;    &lt;Text style={{ fontSize: 34, fontWeight: 'bold', color: '#1E3A8A' }}&gt;以前：项目靠「聊完靠人记、再登禅道填表」&lt;/Text&gt;&#10;  &lt;/Box&gt;&#10;  &lt;Box style={{ flexDirection: 'row', marginTop: 16, gap: 40, height: 560 }}&gt;&#10;    &lt;Box style={{ width: '52%', gap: 18, justifyContent: 'center' }}&gt;&#10;      {[&#10;        { t: '需求私聊 / 口头谈', d: '群里一句话带过，事后没人记得完整背景' },&#10;        { t: '决策没有留存', d: '「这个谁拍的板」永远追问不到源头' },&#10;        { t: '新人接手看不懂', d: '缺少上下文，上手成本极高' },&#10;        { t: '负责人看不清全局', d: '谁在做什么、卡在哪、何时交，靠问' },&#10;      ].map((p, i) =&gt; (&#10;        &lt;Box key={i} style={{ flexDirection: 'row', gap: 14, alignItems: 'flex-start', background: '#F8FAFC', borderRadius: 12, padding: 16 }}&gt;&#10;          &lt;Box style={{ width: 10, height: 10, borderRadius: 5, background: '#F97316', marginTop: 8 }} /&gt;&#10;          &lt;Box&gt;&#10;            &lt;Text style={{ fontSize: 22, fontWeight: 'bold', color: '#1E293B' }}&gt;{p.t}&lt;/Text&gt;&#10;            &lt;Text style={{ fontSize: 17, color: '#64748B', marginTop: 4, lineHeight: 1.5 }}&gt;{p.d}&lt;/Text&gt;&#10;          &lt;/Box&gt;&#10;        &lt;/Box&gt;&#10;      ))}&#10;    &lt;/Box&gt;&#10;    &lt;Box style={{ width: '48%', justifyContent: 'center', alignItems: 'center', background: '#F8FAFC', borderRadius: 16 }}&gt;&#10;      &lt;Image src=&quot;assets/pain_chaos.svg&quot; style={{ width: 380, height: 420, objectFit: 'contain' }} /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85800" y="2667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以前：项目靠「聊完靠人记、再登禅道填表」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85800" y="1647825"/>
            <a:ext cx="5429250" cy="895350"/>
          </a:xfrm>
          <a:prstGeom prst="roundRect">
            <a:avLst>
              <a:gd name="adj" fmla="val 12766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838200" y="1876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66800" y="1800225"/>
            <a:ext cx="2914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需求私聊</a:t>
            </a: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口头谈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66800" y="2095500"/>
            <a:ext cx="29146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群里一句话带过，事后没人记得完整背景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85800" y="2714625"/>
            <a:ext cx="5429250" cy="895350"/>
          </a:xfrm>
          <a:prstGeom prst="roundRect">
            <a:avLst>
              <a:gd name="adj" fmla="val 12766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838200" y="29432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066800" y="2867025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决策没有留存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066800" y="3162300"/>
            <a:ext cx="2590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「这个谁拍的板」永远追问不到源头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85800" y="3781425"/>
            <a:ext cx="5429250" cy="895350"/>
          </a:xfrm>
          <a:prstGeom prst="roundRect">
            <a:avLst>
              <a:gd name="adj" fmla="val 12766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838200" y="40100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066800" y="3933825"/>
            <a:ext cx="1943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新人接手看不懂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066800" y="4229100"/>
            <a:ext cx="1943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缺少上下文，上手成本极高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85800" y="4848225"/>
            <a:ext cx="5429250" cy="895350"/>
          </a:xfrm>
          <a:prstGeom prst="roundRect">
            <a:avLst>
              <a:gd name="adj" fmla="val 12766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838200" y="5076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066800" y="5000625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负责人看不清全局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66800" y="5295900"/>
            <a:ext cx="2590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谁在做什么、卡在哪、何时交，靠问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496050" y="1028700"/>
            <a:ext cx="5010150" cy="5334000"/>
          </a:xfrm>
          <a:prstGeom prst="roundRect">
            <a:avLst>
              <a:gd name="adj" fmla="val 3042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1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0" t="1113" r="0" b="1113"/>
          <a:stretch>
            <a:fillRect/>
          </a:stretch>
        </p:blipFill>
        <p:spPr>
          <a:xfrm rot="0" flipH="0" flipV="0">
            <a:off x="7191375" y="1695450"/>
            <a:ext cx="3619500" cy="40005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63" name="" descr="&lt;Slide style={{ width: '1280px', height: '720px', padding: 0, background: '#F8FAFC' }}&gt;&#10;  &lt;Box style={{ position: 'absolute', top: 0, left: 0, width: '100%', height: '100%', justifyContent: 'center', padding: '0 96px', flexDirection: 'row', alignItems: 'center', gap: 40 }}&gt;&#10;    &lt;Box style={{ width: 200, height: 200, borderRadius: 24, background: 'linear-gradient(135deg, #2563EB 0%, #0EA5E9 100%)', justifyContent: 'center', alignItems: 'center' }}&gt;&#10;      &lt;Text style={{ fontSize: 96, fontWeight: 'bold', color: '#FFFFFF' }}&gt;02&lt;/Text&gt;&#10;    &lt;/Box&gt;&#10;    &lt;Box&gt;&#10;      &lt;Text style={{ fontSize: 56, fontWeight: 'bold', color: '#1E3A8A' }}&gt;产品方案与核心能力&lt;/Text&gt;&#10;      &lt;Text style={{ fontSize: 22, color: '#64748B', marginTop: 16 }}&gt;一个住在飞书群里的 AI 项目管理助手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2552700" y="2476500"/>
            <a:ext cx="1905000" cy="190500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3000375" y="2876550"/>
            <a:ext cx="10191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838700" y="2905125"/>
            <a:ext cx="48006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1E3A8A"/>
                </a:solidFill>
                <a:latin typeface="Microsoft YaHei"/>
                <a:ea typeface="Microsoft YaHei"/>
              </a:rPr>
              <a:t>产品方案与核心能力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838700" y="3705225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一个住在飞书群里的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项目管理助手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69" name="" descr="&lt;Slide style={{ width: '1280px', height: '720px', padding: '28px 72px', background: '#FFFFFF' }}&gt;&#10;  &lt;Box style={{ height: 64 }}&gt;&#10;    &lt;Text style={{ fontSize: 34, fontWeight: 'bold', color: '#1E3A8A' }}&gt;整条链路，搬进飞书群一句话流转&lt;/Text&gt;&#10;  &lt;/Box&gt;&#10;  &lt;Box style={{ marginTop: 8, justifyContent: 'center', alignItems: 'center' }}&gt;&#10;    &lt;Image src=&quot;assets/flow_overview.svg&quot; style={{ width: 1080, height: 290, objectFit: 'contain' }} /&gt;&#10;  &lt;/Box&gt;&#10;  &lt;Box style={{ flexDirection: 'row', gap: 20, marginTop: 24 }}&gt;&#10;    {[&#10;      { t: '不离开聊天界面', d: '群聊即入口，无需切换系统' },&#10;      { t: '表格自动落库', d: '多维表实时写入，免手动登表' },&#10;      { t: '进度自动算', d: '完成率、逾期自动更新' },&#10;      { t: '决策可追溯', d: '谁拍板、为什么、何时，留痕' },&#10;    ].map((c, i) =&gt; (&#10;      &lt;Box key={i} style={{ flex: 1, background: '#E0F2FE', borderRadius: 12, padding: 18 }}&gt;&#10;        &lt;Text style={{ fontSize: 20, fontWeight: 'bold', color: '#0369A1' }}&gt;{c.t}&lt;/Text&gt;&#10;        &lt;Text style={{ fontSize: 15, color: '#475569', marginTop: 6, lineHeight: 1.5 }}&gt;{c.d}&lt;/Text&gt;&#10;      &lt;/Box&gt;&#10;    ))}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85800" y="2667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整条链路，搬进飞书群一句话流转</a:t>
            </a:r>
            <a:endParaRPr/>
          </a:p>
        </p:txBody>
      </p:sp>
      <p:pic>
        <p:nvPicPr>
          <p:cNvPr id="1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123" t="0" r="123" b="0"/>
          <a:stretch>
            <a:fillRect/>
          </a:stretch>
        </p:blipFill>
        <p:spPr>
          <a:xfrm rot="0" flipH="0" flipV="0">
            <a:off x="952500" y="952500"/>
            <a:ext cx="10287000" cy="2762250"/>
          </a:xfrm>
          <a:prstGeom prst="rect">
            <a:avLst/>
          </a:prstGeom>
          <a:ln/>
        </p:spPr>
      </p:pic>
      <p:sp>
        <p:nvSpPr>
          <p:cNvPr id="173" name=""/>
          <p:cNvSpPr/>
          <p:nvPr/>
        </p:nvSpPr>
        <p:spPr>
          <a:xfrm rot="0" flipH="0" flipV="0">
            <a:off x="685800" y="3943350"/>
            <a:ext cx="2562225" cy="885825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57250" y="4114800"/>
            <a:ext cx="2219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369A1"/>
                </a:solidFill>
                <a:latin typeface="Microsoft YaHei"/>
                <a:ea typeface="Microsoft YaHei"/>
              </a:rPr>
              <a:t>不离开聊天界面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57250" y="4400550"/>
            <a:ext cx="22193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群聊即入口，无需切换系统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3438525" y="3943350"/>
            <a:ext cx="2562225" cy="885825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609975" y="4114800"/>
            <a:ext cx="2219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369A1"/>
                </a:solidFill>
                <a:latin typeface="Microsoft YaHei"/>
                <a:ea typeface="Microsoft YaHei"/>
              </a:rPr>
              <a:t>表格自动落库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609975" y="4400550"/>
            <a:ext cx="22193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多维表实时写入，免手动登表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191250" y="3943350"/>
            <a:ext cx="2562225" cy="885825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362700" y="4114800"/>
            <a:ext cx="2219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369A1"/>
                </a:solidFill>
                <a:latin typeface="Microsoft YaHei"/>
                <a:ea typeface="Microsoft YaHei"/>
              </a:rPr>
              <a:t>进度自动算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362700" y="4400550"/>
            <a:ext cx="22193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完成率、逾期自动更新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8943975" y="3943350"/>
            <a:ext cx="2562225" cy="885825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115425" y="4114800"/>
            <a:ext cx="2219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369A1"/>
                </a:solidFill>
                <a:latin typeface="Microsoft YaHei"/>
                <a:ea typeface="Microsoft YaHei"/>
              </a:rPr>
              <a:t>决策可追溯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9115425" y="4400550"/>
            <a:ext cx="22193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谁拍板、为什么、何时，留痕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85" name="" descr="&lt;Slide style={{ width: '1280px', height: '720px', padding: '28px 72px', background: '#FFFFFF' }}&gt;&#10;  &lt;Box style={{ height: 64 }}&gt;&#10;    &lt;Text style={{ fontSize: 34, fontWeight: 'bold', color: '#1E3A8A' }}&gt;数据底座：一张多维表，10 张子表联动&lt;/Text&gt;&#10;  &lt;/Box&gt;&#10;  &lt;Box style={{ flexDirection: 'row', marginTop: 16, gap: 40, height: 560 }}&gt;&#10;    &lt;Box style={{ width: '54%', justifyContent: 'center', alignItems: 'center', background: '#F8FAFC', borderRadius: 16 }}&gt;&#10;      &lt;Image src=&quot;assets/db_schema.svg&quot; style={{ width: 600, height: 320, objectFit: 'contain' }} /&gt;&#10;    &lt;/Box&gt;&#10;    &lt;Box style={{ width: '46%', justifyContent: 'center', gap: 16 }}&gt;&#10;      &lt;Text style={{ fontSize: 20, fontWeight: 'bold', color: '#1E293B' }}&gt;核心实体（领域模型）&lt;/Text&gt;&#10;      &lt;Box style={{ background: '#F8FAFC', borderRadius: 12, padding: 16 }}&gt;&#10;        &lt;Text style={{ fontSize: 18, color: '#475569', lineHeight: 1.7 }}&gt;· 项目 1:N 需求，需求 M:N 任务&lt;/Text&gt;&#10;        &lt;Text style={{ fontSize: 18, color: '#475569', lineHeight: 1.7 }}&gt;· 任务含「责任人 + 执行人」双字段&lt;/Text&gt;&#10;        &lt;Text style={{ fontSize: 18, color: '#475569', lineHeight: 1.7 }}&gt;· 工时、决策、里程碑独立成表&lt;/Text&gt;&#10;      &lt;/Box&gt;&#10;      &lt;Text style={{ fontSize: 17, color: '#64748B', lineHeight: 1.6, marginTop: 8 }}&gt;所有页面数据实时联动，打开即见全局进度——这是产品能&quot;自动算进度&quot;的底层原因。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85800" y="2667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数据底座：一张多维表，</a:t>
            </a:r>
            <a:r>
              <a:rPr lang="en-US" sz="2550" b="1">
                <a:solidFill>
                  <a:srgbClr val="1E3A8A"/>
                </a:solidFill>
                <a:latin typeface="Microsoft YaHei"/>
                <a:ea typeface="Microsoft YaHei"/>
              </a:rPr>
              <a:t>10 </a:t>
            </a: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张子表联动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85800" y="1028700"/>
            <a:ext cx="5638800" cy="53340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1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19866" t="0" r="19866" b="0"/>
          <a:stretch>
            <a:fillRect/>
          </a:stretch>
        </p:blipFill>
        <p:spPr>
          <a:xfrm rot="0" flipH="0" flipV="0">
            <a:off x="647700" y="2171700"/>
            <a:ext cx="5715000" cy="3048000"/>
          </a:xfrm>
          <a:prstGeom prst="rect">
            <a:avLst/>
          </a:prstGeom>
          <a:ln/>
        </p:spPr>
      </p:pic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705600" y="2400300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核心实体（领域模型）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705600" y="2781300"/>
            <a:ext cx="4800600" cy="1362075"/>
          </a:xfrm>
          <a:prstGeom prst="roundRect">
            <a:avLst>
              <a:gd name="adj" fmla="val 8392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858000" y="2933700"/>
            <a:ext cx="44958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项目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 1:N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需求，需求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 M:N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任务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858000" y="3286125"/>
            <a:ext cx="44958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任务含「责任人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执行人」双字段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858000" y="3638550"/>
            <a:ext cx="44958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工时、决策、里程碑独立成表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705600" y="4371975"/>
            <a:ext cx="4800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所有页面数据实时联动，打开即见全局进度——这是产品能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自动算进度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的底层原因。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6" name="" descr="&lt;Slide style={{ width: '1280px', height: '720px', padding: '28px 72px', background: '#FFFFFF' }}&gt;&#10;  &lt;Box style={{ height: 64 }}&gt;&#10;    &lt;Text style={{ fontSize: 34, fontWeight: 'bold', color: '#1E3A8A' }}&gt;核心能力：在群里，它真的能干活&lt;/Text&gt;&#10;  &lt;/Box&gt;&#10;  &lt;Box style={{ flexDirection: 'row', marginTop: 12, gap: 36, height: 560 }}&gt;&#10;    &lt;Box style={{ width: '42%', gap: 16, justifyContent: 'center' }}&gt;&#10;      &lt;Image src=&quot;assets/cap_decision.png&quot; style={{ width: 460, height: 250, objectFit: 'contain', borderRadius: 10, border: '1px solid #E2E8F0' }} /&gt;&#10;      &lt;Image src=&quot;assets/cap_requirement.png&quot; style={{ width: 460, height: 240, objectFit: 'contain', borderRadius: 10, border: '1px solid #E2E8F0' }} /&gt;&#10;    &lt;/Box&gt;&#10;    &lt;Box style={{ width: '58%', gap: 18, justifyContent: 'center' }}&gt;&#10;      {[&#10;        { t: '① 自动识别需求，忽略闲聊', d: '群聊里正常聊项目才记录，喝水摸鱼不扰' },&#10;        { t: '② 识别决策 / 开项目 / 分配工时', d: '一句话触发建项目、派任务、记决策' },&#10;        { t: '③ 报错可提醒自优化', d: '理解错了 @一下，它自己纠错补全' },&#10;        { t: '④ @一下做低频操作', d: '查状态、改状态、问进度，随叫随到' },&#10;      ].map((c, i) =&gt; (&#10;        &lt;Box key={i} style={{ flexDirection: 'row', gap: 14, alignItems: 'flex-start', background: '#F8FAFC', borderRadius: 12, padding: 16 }}&gt;&#10;          &lt;Text style={{ fontSize: 22, fontWeight: 'bold', color: '#2563EB' }}&gt;{c.t}&lt;/Text&gt;&#10;          &lt;Text style={{ fontSize: 16, color: '#64748B', marginTop: 2, lineHeight: 1.5 }}&gt;{c.d}&lt;/Text&gt;&#10;        &lt;/Box&gt;&#10;      ))}&#10;      &lt;Box style={{ background: '#FEF3C7', borderRadius: 12, padding: 14 }}&gt;&#10;        &lt;Text style={{ fontSize: 16, color: '#B45309', lineHeight: 1.5 }}&gt;下图为群聊实测截图：识别需求、决策开项目、分配工时、报错自优化均已验证通过。&lt;/Text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85800" y="2667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核心能力：在群里，它真的能干活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85800" y="1247775"/>
            <a:ext cx="4381500" cy="238125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200" name=""/>
          <p:cNvPicPr>
            <a:picLocks noChangeAspect="1"/>
          </p:cNvPicPr>
          <p:nvPr/>
        </p:nvPicPr>
        <p:blipFill>
          <a:blip r:embed="rId1"/>
          <a:srcRect l="2800" t="0" r="2800" b="0"/>
          <a:stretch>
            <a:fillRect/>
          </a:stretch>
        </p:blipFill>
        <p:spPr>
          <a:xfrm rot="0" flipH="0" flipV="0">
            <a:off x="685800" y="1247775"/>
            <a:ext cx="4381500" cy="2381250"/>
          </a:xfrm>
          <a:prstGeom prst="roundRect">
            <a:avLst>
              <a:gd name="adj" fmla="val 4000"/>
            </a:avLst>
          </a:prstGeom>
          <a:ln/>
        </p:spPr>
      </p:pic>
      <p:sp>
        <p:nvSpPr>
          <p:cNvPr id="201" name=""/>
          <p:cNvSpPr/>
          <p:nvPr/>
        </p:nvSpPr>
        <p:spPr>
          <a:xfrm rot="0" flipH="0" flipV="0">
            <a:off x="685800" y="3781425"/>
            <a:ext cx="4381500" cy="228600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202" name=""/>
          <p:cNvPicPr>
            <a:picLocks noChangeAspect="1"/>
          </p:cNvPicPr>
          <p:nvPr/>
        </p:nvPicPr>
        <p:blipFill>
          <a:blip r:embed="rId2"/>
          <a:srcRect l="19962" t="0" r="19962" b="0"/>
          <a:stretch>
            <a:fillRect/>
          </a:stretch>
        </p:blipFill>
        <p:spPr>
          <a:xfrm rot="0" flipH="0" flipV="0">
            <a:off x="685800" y="3781425"/>
            <a:ext cx="4381500" cy="2286000"/>
          </a:xfrm>
          <a:prstGeom prst="roundRect">
            <a:avLst>
              <a:gd name="adj" fmla="val 4167"/>
            </a:avLst>
          </a:prstGeom>
          <a:ln/>
        </p:spPr>
      </p:pic>
      <p:sp>
        <p:nvSpPr>
          <p:cNvPr id="203" name=""/>
          <p:cNvSpPr/>
          <p:nvPr/>
        </p:nvSpPr>
        <p:spPr>
          <a:xfrm rot="0" flipH="0" flipV="0">
            <a:off x="5429250" y="1847850"/>
            <a:ext cx="6076950" cy="600075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581650" y="2000250"/>
            <a:ext cx="2581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① </a:t>
            </a: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自动识别需求，忽略闲聊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296275" y="2019300"/>
            <a:ext cx="274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群聊里正常聊项目才记录，喝水摸鱼不扰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5429250" y="2619375"/>
            <a:ext cx="6076950" cy="600075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581650" y="2771775"/>
            <a:ext cx="2924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② </a:t>
            </a: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识别决策</a:t>
            </a: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开项目</a:t>
            </a: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分配工时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639175" y="2790825"/>
            <a:ext cx="2438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一句话触发建项目、派任务、记决策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5429250" y="3390900"/>
            <a:ext cx="6076950" cy="600075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581650" y="3543300"/>
            <a:ext cx="1952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③ </a:t>
            </a: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报错可提醒自优化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667625" y="3562350"/>
            <a:ext cx="23336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理解错了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@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一下，它自己纠错补全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5429250" y="4162425"/>
            <a:ext cx="6076950" cy="600075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581650" y="4314825"/>
            <a:ext cx="1943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④ @</a:t>
            </a: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一下做低频操作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658100" y="4333875"/>
            <a:ext cx="2438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查状态、改状态、问进度，随叫随到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5429250" y="4933950"/>
            <a:ext cx="6076950" cy="542925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562600" y="5067300"/>
            <a:ext cx="5810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B45309"/>
                </a:solidFill>
                <a:latin typeface="Microsoft YaHei"/>
                <a:ea typeface="Microsoft YaHei"/>
              </a:rPr>
              <a:t>下图为群聊实测截图：识别需求、决策开项目、分配工时、报错自优化均已验证通过。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217" name="" descr="&lt;Slide style={{ width: '1280px', height: '720px', padding: 0, background: '#F8FAFC' }}&gt;&#10;  &lt;Box style={{ position: 'absolute', top: 0, left: 0, width: '100%', height: '100%', justifyContent: 'center', padding: '0 96px', flexDirection: 'row', alignItems: 'center', gap: 40 }}&gt;&#10;    &lt;Box style={{ width: 200, height: 200, borderRadius: 24, background: 'linear-gradient(135deg, #2563EB 0%, #0EA5E9 100%)', justifyContent: 'center', alignItems: 'center' }}&gt;&#10;      &lt;Text style={{ fontSize: 96, fontWeight: 'bold', color: '#FFFFFF' }}&gt;03&lt;/Text&gt;&#10;    &lt;/Box&gt;&#10;    &lt;Box&gt;&#10;      &lt;Text style={{ fontSize: 56, fontWeight: 'bold', color: '#1E3A8A' }}&gt;方法论亮点&lt;/Text&gt;&#10;      &lt;Text style={{ fontSize: 22, color: '#64748B', marginTop: 16 }}&gt;比起&quot;做了个产品&quot;，更关键的是想清楚了背后的模型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2571750" y="2476500"/>
            <a:ext cx="1905000" cy="190500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3019425" y="2876550"/>
            <a:ext cx="10191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857750" y="2905125"/>
            <a:ext cx="47625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1E3A8A"/>
                </a:solidFill>
                <a:latin typeface="Microsoft YaHei"/>
                <a:ea typeface="Microsoft YaHei"/>
              </a:rPr>
              <a:t>方法论亮点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857750" y="3705225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比起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做了个产品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，更关键的是想清楚了背后的模型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" name="" descr="&lt;Slide style={{ width: '1280px', height: '720px', padding: '28px 72px', background: '#FFFFFF' }}&gt;&#10;  &lt;Box style={{ height: 64 }}&gt;&#10;    &lt;Text style={{ fontSize: 34, fontWeight: 'bold', color: '#1E3A8A' }}&gt;关键设计：需求 ≠ 任务&lt;/Text&gt;&#10;  &lt;/Box&gt;&#10;  &lt;Box style={{ flexDirection: 'row', marginTop: 12, gap: 36, height: 560 }}&gt;&#10;    &lt;Box style={{ width: '50%', justifyContent: 'center', alignItems: 'center', background: '#F8FAFC', borderRadius: 16 }}&gt;&#10;      &lt;Image src=&quot;assets/er_model.png&quot; style={{ width: 560, height: 313, objectFit: 'contain' }} /&gt;&#10;    &lt;/Box&gt;&#10;    &lt;Box style={{ width: '50%', justifyContent: 'center', gap: 16 }}&gt;&#10;      &lt;Text style={{ fontSize: 20, fontWeight: 'bold', color: '#1E293B' }}&gt;一个需求，可拆多任务；一个任务，可服务多需求&lt;/Text&gt;&#10;      &lt;Box style={{ background: '#E0F2FE', borderRadius: 12, padding: 16 }}&gt;&#10;        &lt;Text style={{ fontSize: 18, color: '#0369A1', lineHeight: 1.7 }}&gt;· 需求 = 做什么 / 为什么（含验收标准）&lt;/Text&gt;&#10;        &lt;Text style={{ fontSize: 18, color: '#0369A1', lineHeight: 1.7 }}&gt;· 任务 = 怎么做 / 谁执行（落地工作）&lt;/Text&gt;&#10;        &lt;Text style={{ fontSize: 18, color: '#0369A1', lineHeight: 1.7 }}&gt;· 两者 M:N，用关联字段表达，不混为一表&lt;/Text&gt;&#10;      &lt;/Box&gt;&#10;      &lt;Text style={{ fontSize: 17, color: '#64748B', lineHeight: 1.6, marginTop: 6 }}&gt;这是整个产品的地基：先分对实体，才能客观验证&quot;需求→任务是否可追溯&quot;。早期曾误把两者同表，已纠正。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85800" y="2667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关键设计：需求</a:t>
            </a:r>
            <a:r>
              <a:rPr lang="en-US" sz="2550" b="1">
                <a:solidFill>
                  <a:srgbClr val="1E3A8A"/>
                </a:solidFill>
                <a:latin typeface="Microsoft YaHei"/>
                <a:ea typeface="Microsoft YaHei"/>
              </a:rPr>
              <a:t> ≠ </a:t>
            </a: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任务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85800" y="990600"/>
            <a:ext cx="5238750" cy="533400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12" name=""/>
          <p:cNvPicPr>
            <a:picLocks noChangeAspect="1"/>
          </p:cNvPicPr>
          <p:nvPr/>
        </p:nvPicPr>
        <p:blipFill>
          <a:blip r:embed="rId1"/>
          <a:srcRect l="0" t="3649" r="0" b="3649"/>
          <a:stretch>
            <a:fillRect/>
          </a:stretch>
        </p:blipFill>
        <p:spPr>
          <a:xfrm rot="0" flipH="0" flipV="0">
            <a:off x="638175" y="2171700"/>
            <a:ext cx="5334000" cy="2981325"/>
          </a:xfrm>
          <a:prstGeom prst="rect">
            <a:avLst/>
          </a:prstGeom>
          <a:ln/>
        </p:spPr>
      </p:pic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267450" y="2371725"/>
            <a:ext cx="523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一个需求，可拆多任务；一个任务，可服务多需求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267450" y="2752725"/>
            <a:ext cx="5238750" cy="1362075"/>
          </a:xfrm>
          <a:prstGeom prst="roundRect">
            <a:avLst>
              <a:gd name="adj" fmla="val 8392"/>
            </a:avLst>
          </a:prstGeom>
          <a:solidFill>
            <a:srgbClr val="E0F2FE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419850" y="2905125"/>
            <a:ext cx="493395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0369A1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0369A1"/>
                </a:solidFill>
                <a:latin typeface="Microsoft YaHei"/>
                <a:ea typeface="Microsoft YaHei"/>
              </a:rPr>
              <a:t>需求</a:t>
            </a:r>
            <a:r>
              <a:rPr lang="en-US" sz="1350">
                <a:solidFill>
                  <a:srgbClr val="0369A1"/>
                </a:solidFill>
                <a:latin typeface="Microsoft YaHei"/>
                <a:ea typeface="Microsoft YaHei"/>
              </a:rPr>
              <a:t> = </a:t>
            </a:r>
            <a:r>
              <a:rPr lang="zh-CN" sz="1350">
                <a:solidFill>
                  <a:srgbClr val="0369A1"/>
                </a:solidFill>
                <a:latin typeface="Microsoft YaHei"/>
                <a:ea typeface="Microsoft YaHei"/>
              </a:rPr>
              <a:t>做什么</a:t>
            </a:r>
            <a:r>
              <a:rPr lang="en-US" sz="1350">
                <a:solidFill>
                  <a:srgbClr val="0369A1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0369A1"/>
                </a:solidFill>
                <a:latin typeface="Microsoft YaHei"/>
                <a:ea typeface="Microsoft YaHei"/>
              </a:rPr>
              <a:t>为什么（含验收标准）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419850" y="3257550"/>
            <a:ext cx="493395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0369A1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0369A1"/>
                </a:solidFill>
                <a:latin typeface="Microsoft YaHei"/>
                <a:ea typeface="Microsoft YaHei"/>
              </a:rPr>
              <a:t>任务</a:t>
            </a:r>
            <a:r>
              <a:rPr lang="en-US" sz="1350">
                <a:solidFill>
                  <a:srgbClr val="0369A1"/>
                </a:solidFill>
                <a:latin typeface="Microsoft YaHei"/>
                <a:ea typeface="Microsoft YaHei"/>
              </a:rPr>
              <a:t> = </a:t>
            </a:r>
            <a:r>
              <a:rPr lang="zh-CN" sz="1350">
                <a:solidFill>
                  <a:srgbClr val="0369A1"/>
                </a:solidFill>
                <a:latin typeface="Microsoft YaHei"/>
                <a:ea typeface="Microsoft YaHei"/>
              </a:rPr>
              <a:t>怎么做</a:t>
            </a:r>
            <a:r>
              <a:rPr lang="en-US" sz="1350">
                <a:solidFill>
                  <a:srgbClr val="0369A1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0369A1"/>
                </a:solidFill>
                <a:latin typeface="Microsoft YaHei"/>
                <a:ea typeface="Microsoft YaHei"/>
              </a:rPr>
              <a:t>谁执行（落地工作）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419850" y="3609975"/>
            <a:ext cx="493395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0369A1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0369A1"/>
                </a:solidFill>
                <a:latin typeface="Microsoft YaHei"/>
                <a:ea typeface="Microsoft YaHei"/>
              </a:rPr>
              <a:t>两者</a:t>
            </a:r>
            <a:r>
              <a:rPr lang="en-US" sz="1350">
                <a:solidFill>
                  <a:srgbClr val="0369A1"/>
                </a:solidFill>
                <a:latin typeface="Microsoft YaHei"/>
                <a:ea typeface="Microsoft YaHei"/>
              </a:rPr>
              <a:t> M:N</a:t>
            </a:r>
            <a:r>
              <a:rPr lang="zh-CN" sz="1350">
                <a:solidFill>
                  <a:srgbClr val="0369A1"/>
                </a:solidFill>
                <a:latin typeface="Microsoft YaHei"/>
                <a:ea typeface="Microsoft YaHei"/>
              </a:rPr>
              <a:t>，用关联字段表达，不混为一表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267450" y="4324350"/>
            <a:ext cx="52387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这是整个产品的地基：先分对实体，才能客观验证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需求→任务是否可追溯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。早期曾误把两者同表，已纠正。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9" name="" descr="&lt;Slide style={{ width: '1280px', height: '720px', padding: '28px 72px', background: '#FFFFFF' }}&gt;&#10;  &lt;Box style={{ height: 64 }}&gt;&#10;    &lt;Text style={{ fontSize: 34, fontWeight: 'bold', color: '#1E3A8A' }}&gt;两套方法，让 PM 流程可迁移、可扩展&lt;/Text&gt;&#10;  &lt;/Box&gt;&#10;  &lt;Box style={{ flexDirection: 'row', marginTop: 16, gap: 40, height: 560 }}&gt;&#10;    &lt;Box style={{ width: '32%', justifyContent: 'center' }}&gt;&#10;      &lt;Text style={{ fontSize: 26, fontWeight: 'bold', color: '#2563EB' }}&gt;Hybrid 开发模式&lt;/Text&gt;&#10;      &lt;Box style={{ width: 64, height: 5, background: '#F97316', marginTop: 12, borderRadius: 3 }} /&gt;&#10;      &lt;Text style={{ fontSize: 18, color: '#475569', lineHeight: 1.7, marginTop: 16 }}&gt;· 长城长大版本 → 瀑布（里程碑 + 变更门禁）&lt;/Text&gt;&#10;      &lt;Text style={{ fontSize: 18, color: '#475569', lineHeight: 1.7 }}&gt;· 日常迭代 / 修 bug → 敏捷（Sprint + Backlog）&lt;/Text&gt;&#10;      &lt;Text style={{ fontSize: 18, color: '#475569', lineHeight: 1.7 }}&gt;· 同一项目同时挂两种&quot;节奏盒子&quot;&lt;/Text&gt;&#10;    &lt;/Box&gt;&#10;    &lt;Box style={{ width: '68%', justifyContent: 'center' }}&gt;&#10;      &lt;Text style={{ fontSize: 26, fontWeight: 'bold', color: '#2563EB' }}&gt;三文档分离（PRD / 领域 / 技术方案）&lt;/Text&gt;&#10;      &lt;Box style={{ width: 64, height: 5, background: '#F97316', marginTop: 12, borderRadius: 3 }} /&gt;&#10;      &lt;Box style={{ flexDirection: 'row', gap: 18, marginTop: 20 }}&gt;&#10;        {[&#10;          { t: 'PRD', d: '做什么 / 为什么 / 验收', c: '#2563EB' },&#10;          { t: '领域模型', d: '实体·字段·业务规则', c: '#0EA5E9' },&#10;          { t: '技术方案', d: '怎么建 / 用什么栈', c: '#F97316' },&#10;        ].map((x, i) =&gt; (&#10;          &lt;Box key={i} style={{ flex: 1, background: '#F8FAFC', borderRadius: 12, padding: 18, borderTop: `4px solid ${x.c}` }}&gt;&#10;            &lt;Text style={{ fontSize: 22, fontWeight: 'bold', color: x.c }}&gt;{x.t}&lt;/Text&gt;&#10;            &lt;Text style={{ fontSize: 16, color: '#475569', marginTop: 8, lineHeight: 1.5 }}&gt;{x.d}&lt;/Text&gt;&#10;          &lt;/Box&gt;&#10;        ))}&#10;      &lt;/Box&gt;&#10;      &lt;Text style={{ fontSize: 17, color: '#64748B', lineHeight: 1.6, marginTop: 18 }}&gt;领域文档可直接喂给 Agent / 研发，可移植；PRD 只引用不堆细节，改技术方向不必重写产品定义。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2667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两套方法，让</a:t>
            </a:r>
            <a:r>
              <a:rPr lang="en-US" sz="2550" b="1">
                <a:solidFill>
                  <a:srgbClr val="1E3A8A"/>
                </a:solidFill>
                <a:latin typeface="Microsoft YaHei"/>
                <a:ea typeface="Microsoft YaHei"/>
              </a:rPr>
              <a:t> PM </a:t>
            </a: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流程可迁移、可扩展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85800" y="2505075"/>
            <a:ext cx="3343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563EB"/>
                </a:solidFill>
                <a:latin typeface="Microsoft YaHei"/>
                <a:ea typeface="Microsoft YaHei"/>
              </a:rPr>
              <a:t>Hybrid </a:t>
            </a: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开发模式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85800" y="2924175"/>
            <a:ext cx="609600" cy="47625"/>
          </a:xfrm>
          <a:prstGeom prst="roundRect">
            <a:avLst>
              <a:gd name="adj" fmla="val 6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33432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长城长大版本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瀑布（里程碑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变更门禁）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3829050"/>
            <a:ext cx="33432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日常迭代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修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 bug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敏捷（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Sprint + Backlog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4533900"/>
            <a:ext cx="3343275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同一项目同时挂两种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节奏盒子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410075" y="2476500"/>
            <a:ext cx="70961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三文档分离（</a:t>
            </a:r>
            <a:r>
              <a:rPr lang="en-US" sz="1950" b="1">
                <a:solidFill>
                  <a:srgbClr val="2563EB"/>
                </a:solidFill>
                <a:latin typeface="Microsoft YaHei"/>
                <a:ea typeface="Microsoft YaHei"/>
              </a:rPr>
              <a:t>PRD / </a:t>
            </a: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领域</a:t>
            </a:r>
            <a:r>
              <a:rPr lang="en-US" sz="1950" b="1">
                <a:solidFill>
                  <a:srgbClr val="2563EB"/>
                </a:solidFill>
                <a:latin typeface="Microsoft YaHei"/>
                <a:ea typeface="Microsoft YaHei"/>
              </a:rPr>
              <a:t> / </a:t>
            </a: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技术方案）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410075" y="2895600"/>
            <a:ext cx="609600" cy="47625"/>
          </a:xfrm>
          <a:prstGeom prst="roundRect">
            <a:avLst>
              <a:gd name="adj" fmla="val 6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4410075" y="3171825"/>
            <a:ext cx="2247900" cy="9906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4410075" y="3171825"/>
            <a:ext cx="2247900" cy="990600"/>
          </a:xfrm>
          <a:custGeom>
            <a:pathLst>
              <a:path w="236" h="104">
                <a:moveTo>
                  <a:pt x="225" y="0"/>
                </a:moveTo>
                <a:cubicBezTo>
                  <a:pt x="230" y="0"/>
                  <a:pt x="235" y="4"/>
                  <a:pt x="236" y="10"/>
                </a:cubicBezTo>
                <a:cubicBezTo>
                  <a:pt x="235" y="6"/>
                  <a:pt x="232" y="4"/>
                  <a:pt x="228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24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581525" y="3343275"/>
            <a:ext cx="1905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PRD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581525" y="3676650"/>
            <a:ext cx="1905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做什么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为什么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验收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829425" y="3171825"/>
            <a:ext cx="2257425" cy="9906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6829425" y="3171825"/>
            <a:ext cx="2257425" cy="990600"/>
          </a:xfrm>
          <a:custGeom>
            <a:pathLst>
              <a:path w="237" h="104">
                <a:moveTo>
                  <a:pt x="226" y="0"/>
                </a:moveTo>
                <a:cubicBezTo>
                  <a:pt x="231" y="0"/>
                  <a:pt x="236" y="4"/>
                  <a:pt x="237" y="10"/>
                </a:cubicBezTo>
                <a:cubicBezTo>
                  <a:pt x="236" y="6"/>
                  <a:pt x="233" y="4"/>
                  <a:pt x="229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25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000875" y="3343275"/>
            <a:ext cx="1914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A5E9"/>
                </a:solidFill>
                <a:latin typeface="Microsoft YaHei"/>
                <a:ea typeface="Microsoft YaHei"/>
              </a:rPr>
              <a:t>领域模型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000875" y="3676650"/>
            <a:ext cx="19145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实体·字段·业务规则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9258300" y="3171825"/>
            <a:ext cx="2247900" cy="9906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9258300" y="3171825"/>
            <a:ext cx="2247900" cy="990600"/>
          </a:xfrm>
          <a:custGeom>
            <a:pathLst>
              <a:path w="236" h="104">
                <a:moveTo>
                  <a:pt x="225" y="0"/>
                </a:moveTo>
                <a:cubicBezTo>
                  <a:pt x="230" y="0"/>
                  <a:pt x="235" y="4"/>
                  <a:pt x="236" y="10"/>
                </a:cubicBezTo>
                <a:cubicBezTo>
                  <a:pt x="235" y="6"/>
                  <a:pt x="232" y="4"/>
                  <a:pt x="228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24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9429750" y="3343275"/>
            <a:ext cx="1905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97316"/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9429750" y="3676650"/>
            <a:ext cx="1905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怎么建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用什么栈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410075" y="4295775"/>
            <a:ext cx="70961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领域文档可直接喂给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Agent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研发，可移植；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PRD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只引用不堆细节，改技术方向不必重写产品定义。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42" name="" descr="&lt;Slide style={{ width: '1280px', height: '720px', padding: 0, background: '#F8FAFC' }}&gt;&#10;  &lt;Box style={{ position: 'absolute', top: 0, left: 0, width: '100%', height: '100%', justifyContent: 'center', padding: '0 96px', flexDirection: 'row', alignItems: 'center', gap: 40 }}&gt;&#10;    &lt;Box style={{ width: 200, height: 200, borderRadius: 24, background: 'linear-gradient(135deg, #2563EB 0%, #0EA5E9 100%)', justifyContent: 'center', alignItems: 'center' }}&gt;&#10;      &lt;Text style={{ fontSize: 96, fontWeight: 'bold', color: '#FFFFFF' }}&gt;04&lt;/Text&gt;&#10;    &lt;/Box&gt;&#10;    &lt;Box&gt;&#10;      &lt;Text style={{ fontSize: 56, fontWeight: 'bold', color: '#1E3A8A' }}&gt;落地进展与验证&lt;/Text&gt;&#10;      &lt;Text style={{ fontSize: 22, color: '#64748B', marginTop: 16 }}&gt;从想法到可用，再到持续探索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3086100" y="2476500"/>
            <a:ext cx="1905000" cy="190500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533775" y="2876550"/>
            <a:ext cx="10191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372100" y="2905125"/>
            <a:ext cx="3733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1E3A8A"/>
                </a:solidFill>
                <a:latin typeface="Microsoft YaHei"/>
                <a:ea typeface="Microsoft YaHei"/>
              </a:rPr>
              <a:t>落地进展与验证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372100" y="3705225"/>
            <a:ext cx="3733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从想法到可用，再到持续探索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48" name="" descr="&lt;Slide style={{ width: '1280px', height: '720px', padding: '28px 72px', background: '#FFFFFF' }}&gt;&#10;  &lt;Box style={{ height: 64 }}&gt;&#10;    &lt;Text style={{ fontSize: 34, fontWeight: 'bold', color: '#1E3A8A' }}&gt;当前进展：三层都已推进&lt;/Text&gt;&#10;  &lt;/Box&gt;&#10;  &lt;Box style={{ flexDirection: 'row', marginTop: 20, gap: 28, height: 540 }}&gt;&#10;    {[&#10;      { t: 'Aily 平台版', s: '已上线验证', c: '#16A34A', d: 'F1–F13 全部落地，群聊实测通过（见能力演示页）' },&#10;      { t: '产品操作文档', s: '已写齐', c: '#16A34A', d: '群里怎么用、@指令、识别规则，团队可直接照着用' },&#10;      { t: '自研 / 自建版', s: '探索中', c: '#F97316', d: 'Codex 自部署方案尝试中，验证可迁移性' },&#10;    ].map((x, i) =&gt; (&#10;      &lt;Box key={i} style={{ flex: 1, background: '#F8FAFC', borderRadius: 16, padding: 24, borderTop: `6px solid ${x.c}`, justifyContent: 'space-between' }}&gt;&#10;        &lt;Box&gt;&#10;          &lt;Text style={{ fontSize: 24, fontWeight: 'bold', color: '#1E293B' }}&gt;{x.t}&lt;/Text&gt;&#10;          &lt;Box style={{ flexDirection: 'row', alignItems: 'center', gap: 8, marginTop: 12 }}&gt;&#10;            &lt;Box style={{ width: 12, height: 12, borderRadius: 6, background: x.c }} /&gt;&#10;            &lt;Text style={{ fontSize: 18, fontWeight: 'bold', color: x.c }}&gt;{x.s}&lt;/Text&gt;&#10;          &lt;/Box&gt;&#10;        &lt;/Box&gt;&#10;        &lt;Text style={{ fontSize: 17, color: '#475569', lineHeight: 1.6, marginTop: 16 }}&gt;{x.d}&lt;/Text&gt;&#10;      &lt;/Box&gt;&#10;    ))}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85800" y="2667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当前进展：三层都已推进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85800" y="1123950"/>
            <a:ext cx="3429000" cy="51435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685800" y="1123950"/>
            <a:ext cx="3429000" cy="5143500"/>
          </a:xfrm>
          <a:custGeom>
            <a:pathLst>
              <a:path w="360" h="540">
                <a:moveTo>
                  <a:pt x="345" y="0"/>
                </a:moveTo>
                <a:cubicBezTo>
                  <a:pt x="352" y="0"/>
                  <a:pt x="358" y="6"/>
                  <a:pt x="360" y="13"/>
                </a:cubicBezTo>
                <a:cubicBezTo>
                  <a:pt x="358" y="9"/>
                  <a:pt x="354" y="6"/>
                  <a:pt x="350" y="6"/>
                </a:cubicBezTo>
                <a:lnTo>
                  <a:pt x="10" y="6"/>
                </a:lnTo>
                <a:cubicBezTo>
                  <a:pt x="5" y="6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344" y="0"/>
                </a:lnTo>
                <a:close/>
              </a:path>
            </a:pathLst>
          </a:custGeom>
          <a:solidFill>
            <a:srgbClr val="16A34A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14400" y="1352550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293B"/>
                </a:solidFill>
                <a:latin typeface="Microsoft YaHei"/>
                <a:ea typeface="Microsoft YaHei"/>
              </a:rPr>
              <a:t>Aily </a:t>
            </a: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平台版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914400" y="1790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104900" y="17430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A34A"/>
                </a:solidFill>
                <a:latin typeface="Microsoft YaHei"/>
                <a:ea typeface="Microsoft YaHei"/>
              </a:rPr>
              <a:t>已上线验证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14400" y="5353050"/>
            <a:ext cx="29718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>F1–F13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全部落地，群聊实测通过（见能力演示页）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4381500" y="1123950"/>
            <a:ext cx="3429000" cy="51435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4381500" y="1123950"/>
            <a:ext cx="3429000" cy="5143500"/>
          </a:xfrm>
          <a:custGeom>
            <a:pathLst>
              <a:path w="360" h="540">
                <a:moveTo>
                  <a:pt x="345" y="0"/>
                </a:moveTo>
                <a:cubicBezTo>
                  <a:pt x="352" y="0"/>
                  <a:pt x="358" y="6"/>
                  <a:pt x="360" y="13"/>
                </a:cubicBezTo>
                <a:cubicBezTo>
                  <a:pt x="358" y="9"/>
                  <a:pt x="354" y="6"/>
                  <a:pt x="350" y="6"/>
                </a:cubicBezTo>
                <a:lnTo>
                  <a:pt x="10" y="6"/>
                </a:lnTo>
                <a:cubicBezTo>
                  <a:pt x="5" y="6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344" y="0"/>
                </a:lnTo>
                <a:close/>
              </a:path>
            </a:pathLst>
          </a:custGeom>
          <a:solidFill>
            <a:srgbClr val="16A34A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610100" y="1352550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产品操作文档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4610100" y="1790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800600" y="17430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A34A"/>
                </a:solidFill>
                <a:latin typeface="Microsoft YaHei"/>
                <a:ea typeface="Microsoft YaHei"/>
              </a:rPr>
              <a:t>已写齐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610100" y="5353050"/>
            <a:ext cx="29718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群里怎么用、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>@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指令、识别规则，团队可直接照着用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8077200" y="1123950"/>
            <a:ext cx="3429000" cy="51435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8077200" y="1123950"/>
            <a:ext cx="3429000" cy="5143500"/>
          </a:xfrm>
          <a:custGeom>
            <a:pathLst>
              <a:path w="360" h="540">
                <a:moveTo>
                  <a:pt x="345" y="0"/>
                </a:moveTo>
                <a:cubicBezTo>
                  <a:pt x="352" y="0"/>
                  <a:pt x="358" y="6"/>
                  <a:pt x="360" y="13"/>
                </a:cubicBezTo>
                <a:cubicBezTo>
                  <a:pt x="358" y="9"/>
                  <a:pt x="354" y="6"/>
                  <a:pt x="350" y="6"/>
                </a:cubicBezTo>
                <a:lnTo>
                  <a:pt x="10" y="6"/>
                </a:lnTo>
                <a:cubicBezTo>
                  <a:pt x="5" y="6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344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305800" y="1352550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自研</a:t>
            </a:r>
            <a:r>
              <a:rPr lang="en-US" sz="1800" b="1">
                <a:solidFill>
                  <a:srgbClr val="1E293B"/>
                </a:solidFill>
                <a:latin typeface="Microsoft YaHei"/>
                <a:ea typeface="Microsoft YaHei"/>
              </a:rPr>
              <a:t> / </a:t>
            </a: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自建版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8305800" y="1790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496300" y="17430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97316"/>
                </a:solidFill>
                <a:latin typeface="Microsoft YaHei"/>
                <a:ea typeface="Microsoft YaHei"/>
              </a:rPr>
              <a:t>探索中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305800" y="5667375"/>
            <a:ext cx="2971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>Codex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自部署方案尝试中，验证可迁移性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69" name="" descr="&lt;Slide style={{ width: '1280px', height: '720px', padding: '28px 72px', background: '#FFFFFF' }}&gt;&#10;  &lt;Box style={{ height: 64 }}&gt;&#10;    &lt;Text style={{ fontSize: 34, fontWeight: 'bold', color: '#1E3A8A' }}&gt;验证结果：用客观指标说话&lt;/Text&gt;&#10;  &lt;/Box&gt;&#10;  &lt;Box style={{ flexDirection: 'row', marginTop: 30, gap: 32, height: 420, alignItems: 'center' }}&gt;&#10;    {[&#10;      { n: '【占位-请替换】', l: '核心功能验证通过率', c: '#2563EB' },&#10;      { n: '【占位-请替换】', l: '需求→任务可追溯率', c: '#0EA5E9' },&#10;      { n: '【占位-请替换】', l: '群聊响应可用性', c: '#F97316' },&#10;    ].map((x, i) =&gt; (&#10;      &lt;Box key={i} style={{ flex: 1, alignItems: 'center', justifyContent: 'center', background: '#F8FAFC', borderRadius: 16, height: 320 }}&gt;&#10;        &lt;Text style={{ fontSize: 72, fontWeight: 'bold', color: x.c }}&gt;{x.n}&lt;/Text&gt;&#10;        &lt;Text style={{ fontSize: 18, color: '#475569', marginTop: 16, textAlign: 'center' }}&gt;{x.l}&lt;/Text&gt;&#10;      &lt;/Box&gt;&#10;    ))}&#10;  &lt;/Box&gt;&#10;  &lt;Box style={{ background: '#FEF3C7', borderRadius: 12, padding: 16, marginTop: 16 }}&gt;&#10;    &lt;Text style={{ fontSize: 17, color: '#B45309', lineHeight: 1.6 }}&gt;说明：以上为待填的真实验证口径（对照 PRD 验收标准逐条测）。建议用 demo 实测值替换占位，例如&quot;识别需求忽略闲聊 ×/× 次&quot;&quot;决策留存 × 条&quot;。数字必须真实可防御。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85800" y="2667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验证结果：用客观指标说话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85800" y="1638300"/>
            <a:ext cx="3400425" cy="3048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85800" y="2162175"/>
            <a:ext cx="3400425" cy="1647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5400" b="1">
                <a:solidFill>
                  <a:srgbClr val="2563EB"/>
                </a:solidFill>
                <a:latin typeface="Microsoft YaHei"/>
                <a:ea typeface="Microsoft YaHei"/>
              </a:rPr>
              <a:t>【占位</a:t>
            </a:r>
            <a:r>
              <a:rPr lang="en-US" sz="5400" b="1">
                <a:solidFill>
                  <a:srgbClr val="2563EB"/>
                </a:solidFill>
                <a:latin typeface="Microsoft YaHei"/>
                <a:ea typeface="Microsoft YaHei"/>
              </a:rPr>
              <a:t>-</a:t>
            </a:r>
            <a:r>
              <a:rPr lang="zh-CN" sz="5400" b="1">
                <a:solidFill>
                  <a:srgbClr val="2563EB"/>
                </a:solidFill>
                <a:latin typeface="Microsoft YaHei"/>
                <a:ea typeface="Microsoft YaHei"/>
              </a:rPr>
              <a:t>请替换】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619250" y="3962400"/>
            <a:ext cx="15430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核心功能验证通过率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391025" y="1638300"/>
            <a:ext cx="3409950" cy="3048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391025" y="2162175"/>
            <a:ext cx="3409950" cy="1647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5400" b="1">
                <a:solidFill>
                  <a:srgbClr val="0EA5E9"/>
                </a:solidFill>
                <a:latin typeface="Microsoft YaHei"/>
                <a:ea typeface="Microsoft YaHei"/>
              </a:rPr>
              <a:t>【占位</a:t>
            </a:r>
            <a:r>
              <a:rPr lang="en-US" sz="5400" b="1">
                <a:solidFill>
                  <a:srgbClr val="0EA5E9"/>
                </a:solidFill>
                <a:latin typeface="Microsoft YaHei"/>
                <a:ea typeface="Microsoft YaHei"/>
              </a:rPr>
              <a:t>-</a:t>
            </a:r>
            <a:r>
              <a:rPr lang="zh-CN" sz="5400" b="1">
                <a:solidFill>
                  <a:srgbClr val="0EA5E9"/>
                </a:solidFill>
                <a:latin typeface="Microsoft YaHei"/>
                <a:ea typeface="Microsoft YaHei"/>
              </a:rPr>
              <a:t>请替换】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324475" y="3962400"/>
            <a:ext cx="15430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需求→任务可追溯率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105775" y="1638300"/>
            <a:ext cx="3400425" cy="3048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105775" y="2162175"/>
            <a:ext cx="3400425" cy="1647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5400" b="1">
                <a:solidFill>
                  <a:srgbClr val="F97316"/>
                </a:solidFill>
                <a:latin typeface="Microsoft YaHei"/>
                <a:ea typeface="Microsoft YaHei"/>
              </a:rPr>
              <a:t>【占位</a:t>
            </a:r>
            <a:r>
              <a:rPr lang="en-US" sz="5400" b="1">
                <a:solidFill>
                  <a:srgbClr val="F97316"/>
                </a:solidFill>
                <a:latin typeface="Microsoft YaHei"/>
                <a:ea typeface="Microsoft YaHei"/>
              </a:rPr>
              <a:t>-</a:t>
            </a:r>
            <a:r>
              <a:rPr lang="zh-CN" sz="5400" b="1">
                <a:solidFill>
                  <a:srgbClr val="F97316"/>
                </a:solidFill>
                <a:latin typeface="Microsoft YaHei"/>
                <a:ea typeface="Microsoft YaHei"/>
              </a:rPr>
              <a:t>请替换】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210675" y="3962400"/>
            <a:ext cx="12001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群聊响应可用性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85800" y="5314950"/>
            <a:ext cx="10820400" cy="933450"/>
          </a:xfrm>
          <a:prstGeom prst="roundRect">
            <a:avLst>
              <a:gd name="adj" fmla="val 12245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38200" y="5467350"/>
            <a:ext cx="10515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45309"/>
                </a:solidFill>
                <a:latin typeface="Microsoft YaHei"/>
                <a:ea typeface="Microsoft YaHei"/>
              </a:rPr>
              <a:t>说明：以上为待填的真实验证口径（对照</a:t>
            </a:r>
            <a:r>
              <a:rPr lang="en-US" sz="1275">
                <a:solidFill>
                  <a:srgbClr val="B45309"/>
                </a:solidFill>
                <a:latin typeface="Microsoft YaHei"/>
                <a:ea typeface="Microsoft YaHei"/>
              </a:rPr>
              <a:t> PRD </a:t>
            </a:r>
            <a:r>
              <a:rPr lang="zh-CN" sz="1275">
                <a:solidFill>
                  <a:srgbClr val="B45309"/>
                </a:solidFill>
                <a:latin typeface="Microsoft YaHei"/>
                <a:ea typeface="Microsoft YaHei"/>
              </a:rPr>
              <a:t>验收标准逐条测）。建议用</a:t>
            </a:r>
            <a:r>
              <a:rPr lang="en-US" sz="1275">
                <a:solidFill>
                  <a:srgbClr val="B45309"/>
                </a:solidFill>
                <a:latin typeface="Microsoft YaHei"/>
                <a:ea typeface="Microsoft YaHei"/>
              </a:rPr>
              <a:t> demo </a:t>
            </a:r>
            <a:r>
              <a:rPr lang="zh-CN" sz="1275">
                <a:solidFill>
                  <a:srgbClr val="B45309"/>
                </a:solidFill>
                <a:latin typeface="Microsoft YaHei"/>
                <a:ea typeface="Microsoft YaHei"/>
              </a:rPr>
              <a:t>实测值替换占位，例如</a:t>
            </a:r>
            <a:r>
              <a:rPr lang="en-US" sz="1275">
                <a:solidFill>
                  <a:srgbClr val="B4530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B45309"/>
                </a:solidFill>
                <a:latin typeface="Microsoft YaHei"/>
                <a:ea typeface="Microsoft YaHei"/>
              </a:rPr>
              <a:t>识别需求忽略闲聊</a:t>
            </a:r>
            <a:r>
              <a:rPr lang="en-US" sz="1275">
                <a:solidFill>
                  <a:srgbClr val="B45309"/>
                </a:solidFill>
                <a:latin typeface="Microsoft YaHei"/>
                <a:ea typeface="Microsoft YaHei"/>
              </a:rPr>
              <a:t> ×/× </a:t>
            </a:r>
            <a:r>
              <a:rPr lang="zh-CN" sz="1275">
                <a:solidFill>
                  <a:srgbClr val="B45309"/>
                </a:solidFill>
                <a:latin typeface="Microsoft YaHei"/>
                <a:ea typeface="Microsoft YaHei"/>
              </a:rPr>
              <a:t>次</a:t>
            </a:r>
            <a:r>
              <a:rPr lang="en-US" sz="1275">
                <a:solidFill>
                  <a:srgbClr val="B45309"/>
                </a:solidFill>
                <a:latin typeface="Microsoft YaHei"/>
                <a:ea typeface="Microsoft YaHei"/>
              </a:rPr>
              <a:t>""</a:t>
            </a:r>
            <a:r>
              <a:rPr lang="zh-CN" sz="1275">
                <a:solidFill>
                  <a:srgbClr val="B45309"/>
                </a:solidFill>
                <a:latin typeface="Microsoft YaHei"/>
                <a:ea typeface="Microsoft YaHei"/>
              </a:rPr>
              <a:t>决策留存</a:t>
            </a:r>
            <a:r>
              <a:rPr lang="en-US" sz="1275">
                <a:solidFill>
                  <a:srgbClr val="B45309"/>
                </a:solidFill>
                <a:latin typeface="Microsoft YaHei"/>
                <a:ea typeface="Microsoft YaHei"/>
              </a:rPr>
              <a:t> × </a:t>
            </a:r>
            <a:r>
              <a:rPr lang="zh-CN" sz="1275">
                <a:solidFill>
                  <a:srgbClr val="B45309"/>
                </a:solidFill>
                <a:latin typeface="Microsoft YaHei"/>
                <a:ea typeface="Microsoft YaHei"/>
              </a:rPr>
              <a:t>条</a:t>
            </a:r>
            <a:r>
              <a:rPr lang="en-US" sz="1275">
                <a:solidFill>
                  <a:srgbClr val="B4530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B45309"/>
                </a:solidFill>
                <a:latin typeface="Microsoft YaHei"/>
                <a:ea typeface="Microsoft YaHei"/>
              </a:rPr>
              <a:t>。数字必须真实可防御。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83" name="" descr="&lt;Slide style={{ width: '1280px', height: '720px', padding: 0, background: '#F8FAFC' }}&gt;&#10;  &lt;Box style={{ position: 'absolute', top: 0, left: 0, width: '100%', height: '100%', justifyContent: 'center', padding: '0 96px', flexDirection: 'row', alignItems: 'center', gap: 40 }}&gt;&#10;    &lt;Box style={{ width: 200, height: 200, borderRadius: 24, background: 'linear-gradient(135deg, #2563EB 0%, #0EA5E9 100%)', justifyContent: 'center', alignItems: 'center' }}&gt;&#10;      &lt;Text style={{ fontSize: 96, fontWeight: 'bold', color: '#FFFFFF' }}&gt;05&lt;/Text&gt;&#10;    &lt;/Box&gt;&#10;    &lt;Box&gt;&#10;      &lt;Text style={{ fontSize: 56, fontWeight: 'bold', color: '#1E3A8A' }}&gt;个人收获与规划&lt;/Text&gt;&#10;      &lt;Text style={{ fontSize: 22, color: '#64748B', marginTop: 16 }}&gt;这段实习，我长成了什么样的产品人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3086100" y="2476500"/>
            <a:ext cx="1905000" cy="190500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533775" y="2876550"/>
            <a:ext cx="10191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372100" y="2905125"/>
            <a:ext cx="3733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1E3A8A"/>
                </a:solidFill>
                <a:latin typeface="Microsoft YaHei"/>
                <a:ea typeface="Microsoft YaHei"/>
              </a:rPr>
              <a:t>个人收获与规划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372100" y="3705225"/>
            <a:ext cx="3733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这段实习，我长成了什么样的产品人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89" name="" descr="&lt;Slide style={{ width: '1280px', height: '720px', padding: '28px 72px', background: '#FFFFFF' }}&gt;&#10;  &lt;Box style={{ height: 64 }}&gt;&#10;    &lt;Text style={{ fontSize: 34, fontWeight: 'bold', color: '#1E3A8A' }}&gt;收获与下一步&lt;/Text&gt;&#10;  &lt;/Box&gt;&#10;  &lt;Box style={{ flexDirection: 'row', marginTop: 20, gap: 36, height: 540 }}&gt;&#10;    &lt;Box style={{ width: '50%', background: '#E0F2FE', borderRadius: 16, padding: 28, justifyContent: 'space-between' }}&gt;&#10;      &lt;Text style={{ fontSize: 24, fontWeight: 'bold', color: '#0369A1' }}&gt;这段实习我收获了什么&lt;/Text&gt;&#10;      &lt;Box style={{ gap: 12, marginTop: 16 }}&gt;&#10;        &lt;Text style={{ fontSize: 18, color: '#1E293B', lineHeight: 1.6 }}&gt;· 【占位-请替换】产品思维：从&quot;做功能&quot;到&quot;先想清实体与流程&quot;&lt;/Text&gt;&#10;        &lt;Text style={{ fontSize: 18, color: '#1E293B', lineHeight: 1.6 }}&gt;· 【占位-请替换】从 0 到 1 落地一个 AI 产品&lt;/Text&gt;&#10;        &lt;Text style={{ fontSize: 18, color: '#1E293B', lineHeight: 1.6 }}&gt;· 【占位-请替换】跨部门 / 跨工具协作经验&lt;/Text&gt;&#10;        &lt;Text style={{ fontSize: 18, color: '#1E293B', lineHeight: 1.6 }}&gt;· 【占位-请替换】把&quot;需求≠任务&quot;这类概念讲清楚的能力&lt;/Text&gt;&#10;      &lt;/Box&gt;&#10;    &lt;/Box&gt;&#10;    &lt;Box style={{ width: '50%', background: '#FEF3C7', borderRadius: 16, padding: 28, justifyContent: 'space-between' }}&gt;&#10;      &lt;Text style={{ fontSize: 24, fontWeight: 'bold', color: '#B45309' }}&gt;下一步规划&lt;/Text&gt;&#10;      &lt;Box style={{ gap: 12, marginTop: 16 }}&gt;&#10;        &lt;Text style={{ fontSize: 18, color: '#1E293B', lineHeight: 1.6 }}&gt;· 推进自研 / 自建版，验证可迁移性&lt;/Text&gt;&#10;        &lt;Text style={{ fontSize: 18, color: '#1E293B', lineHeight: 1.6 }}&gt;· 把验证指标做精，建立客观度量&lt;/Text&gt;&#10;        &lt;Text style={{ fontSize: 18, color: '#1E293B', lineHeight: 1.6 }}&gt;· 沉淀为团队可复用的 PM 流程模板&lt;/Text&gt;&#10;        &lt;Text style={{ fontSize: 18, color: '#1E293B', lineHeight: 1.6 }}&gt;· 【占位-请替换】推广到其他项目团队&lt;/Text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85800" y="2667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收获与下一步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85800" y="1066800"/>
            <a:ext cx="5238750" cy="5143500"/>
          </a:xfrm>
          <a:prstGeom prst="roundRect">
            <a:avLst>
              <a:gd name="adj" fmla="val 2963"/>
            </a:avLst>
          </a:prstGeom>
          <a:solidFill>
            <a:srgbClr val="E0F2FE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52500" y="1333500"/>
            <a:ext cx="4705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369A1"/>
                </a:solidFill>
                <a:latin typeface="Microsoft YaHei"/>
                <a:ea typeface="Microsoft YaHei"/>
              </a:rPr>
              <a:t>这段实习我收获了什么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52500" y="4267200"/>
            <a:ext cx="47053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【占位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-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请替换】产品思维：从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做功能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到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先想清实体与流程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52500" y="4714875"/>
            <a:ext cx="47053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【占位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-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请替换】从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 0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到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 1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落地一个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 AI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产品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952500" y="5162550"/>
            <a:ext cx="47053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【占位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-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请替换】跨部门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跨工具协作经验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52500" y="5610225"/>
            <a:ext cx="47053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【占位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-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请替换】把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需求≠任务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这类概念讲清楚的能力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267450" y="1066800"/>
            <a:ext cx="5238750" cy="5143500"/>
          </a:xfrm>
          <a:prstGeom prst="roundRect">
            <a:avLst>
              <a:gd name="adj" fmla="val 2963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534150" y="1333500"/>
            <a:ext cx="4705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B45309"/>
                </a:solidFill>
                <a:latin typeface="Microsoft YaHei"/>
                <a:ea typeface="Microsoft YaHei"/>
              </a:rPr>
              <a:t>下一步规划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534150" y="4267200"/>
            <a:ext cx="47053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推进自研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自建版，验证可迁移性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534150" y="4714875"/>
            <a:ext cx="47053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把验证指标做精，建立客观度量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534150" y="5162550"/>
            <a:ext cx="47053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沉淀为团队可复用的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 PM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流程模板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534150" y="5610225"/>
            <a:ext cx="47053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【占位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-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请替换】推广到其他项目团队</a:t>
            </a:r>
            <a:endParaRPr/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04" name="" descr="&lt;Slide style={{ width: '1280px', height: '720px', padding: 0, background: 'linear-gradient(135deg, #2563EB 0%, #0EA5E9 100%)' }}&gt;&#10;  &lt;Box style={{ position: 'absolute', top: 0, left: 0, width: '100%', height: '100%', justifyContent: 'center', alignItems: 'center', padding: '0 96px' }}&gt;&#10;    &lt;Text style={{ fontSize: 56, fontWeight: 'bold', color: '#FFFFFF', textAlign: 'center', lineHeight: 1.3 }}&gt;让项目管理，回到它该在的地方——&lt;/Text&gt;&#10;    &lt;Text style={{ fontSize: 56, fontWeight: 'bold', color: '#FFFFFF', textAlign: 'center', lineHeight: 1.3, marginTop: 8 }}&gt;群聊里，自然发生&lt;/Text&gt;&#10;    &lt;Box style={{ width: 120, height: 6, background: '#F97316', marginTop: 32, borderRadius: 3 }} /&gt;&#10;    &lt;Text style={{ fontSize: 26, color: '#F0F9FF', marginTop: 28 }}&gt;感谢聆听，欢迎提问与指正&lt;/Text&gt;&#10;    &lt;Text style={{ fontSize: 20, color: '#DBEAFE', marginTop: 40 }}&gt;汇报人：杨锟　|　飞书项目管理智能体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828800" y="1781175"/>
            <a:ext cx="8534400" cy="83820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让项目管理，回到它该在的地方——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962400" y="2695575"/>
            <a:ext cx="4267200" cy="83820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群聊里，自然发生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5524500" y="38385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610100" y="4162425"/>
            <a:ext cx="2971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F0F9FF"/>
                </a:solidFill>
                <a:latin typeface="Microsoft YaHei"/>
                <a:ea typeface="Microsoft YaHei"/>
              </a:rPr>
              <a:t>感谢聆听，欢迎提问与指正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448175" y="4848225"/>
            <a:ext cx="3295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DBEAFE"/>
                </a:solidFill>
                <a:latin typeface="Microsoft YaHei"/>
                <a:ea typeface="Microsoft YaHei"/>
              </a:rPr>
              <a:t>汇报人：杨锟　</a:t>
            </a:r>
            <a:r>
              <a:rPr lang="en-US" sz="1500">
                <a:solidFill>
                  <a:srgbClr val="DBEAFE"/>
                </a:solidFill>
                <a:latin typeface="Microsoft YaHei"/>
                <a:ea typeface="Microsoft YaHei"/>
              </a:rPr>
              <a:t>|</a:t>
            </a:r>
            <a:r>
              <a:rPr lang="zh-CN" sz="1500">
                <a:solidFill>
                  <a:srgbClr val="DBEAFE"/>
                </a:solidFill>
                <a:latin typeface="Microsoft YaHei"/>
                <a:ea typeface="Microsoft YaHei"/>
              </a:rPr>
              <a:t>　飞书项目管理智能体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2026-08-14T09:27:10Z</dcterms:created>
  <dcterms:modified xsi:type="dcterms:W3CDTF">2026-08-14T09:27:10Z</dcterms:modified>
</cp:coreProperties>
</file>