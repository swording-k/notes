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200400"/>
            <a:ext cx="5790895" cy="54864"/>
          </a:xfrm>
          <a:prstGeom prst="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420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手拉手协同系统</a:t>
            </a:r>
          </a:p>
          <a:p>
            <a:pPr algn="ctr">
              <a:defRPr sz="2000" b="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新人教学 · 操作指引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669280"/>
            <a:ext cx="94484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长城证券股份有限公司  |  内测版（UAT 环境）  ·  企业微信私有版 · 长城长数字化体系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C81620"/>
                </a:solidFill>
              </a:defRPr>
            </a:pPr>
            <a:r>
              <a:t>长城证券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C9A55A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01  认识手拉手：系统定位与价值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02  系统整体结构：7 大板块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03  首页 · 你的工作台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04  商机挖掘 · 发现目标企业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05  协同管理 · 核心业务流程 ⭐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06  客户管理 · 维护客户档案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07  协同学院 · AI 助手与学习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08  完整工作流：一次协同从 0 到 1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09  常见问题 &amp; 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长城证券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1807647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C82"/>
                </a:solidFill>
              </a:defRPr>
            </a:pPr>
            <a:r>
              <a:t>长城证券 · 手拉手协同系统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第一部分 · 认识手拉手</a:t>
            </a:r>
          </a:p>
          <a:p>
            <a:pPr algn="ctr">
              <a:defRPr sz="1700" b="0">
                <a:solidFill>
                  <a:srgbClr val="F7F2F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系统是什么，解决什么问题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长城证券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一、系统是什么？30 秒看懂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定位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  长城证券内部「跨部门业务协同平台」</a:t>
            </a:r>
          </a:p>
          <a:p>
            <a:pPr>
              <a:spcAft>
                <a:spcPts val="400"/>
              </a:spcAft>
              <a:defRPr sz="200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核心痛点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  分支机构有客户，却干不了专业业务（上市 / 发债 / 并购 / 研究）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  总部有能力，但离客户远、缺项目来源</a:t>
            </a:r>
          </a:p>
          <a:p>
            <a:pPr>
              <a:spcAft>
                <a:spcPts val="400"/>
              </a:spcAft>
              <a:defRPr sz="200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手拉手的解法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  发现商机 → 发起协同 → 总部接单 → 共同服务 → 分润结算（全程线上留痕）</a:t>
            </a:r>
          </a:p>
          <a:p>
            <a:pPr>
              <a:spcAft>
                <a:spcPts val="900"/>
              </a:spcAft>
              <a:defRPr sz="1700" b="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一句话：让有客户的分支机构与有能力的总部条线，线上高效协同、合理分钱。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长城证券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1807647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C82"/>
                </a:solidFill>
              </a:defRPr>
            </a:pPr>
            <a:r>
              <a:t>长城证券 · 手拉手协同系统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协同五步闭环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10728655" cy="54864"/>
          </a:xfrm>
          <a:prstGeom prst="rect">
            <a:avLst/>
          </a:prstGeom>
          <a:solidFill>
            <a:srgbClr val="78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84929" y="3291839"/>
            <a:ext cx="365760" cy="365760"/>
          </a:xfrm>
          <a:prstGeom prst="ellipse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09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① 发现商机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09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分支机构的客户线索</a:t>
            </a:r>
          </a:p>
        </p:txBody>
      </p:sp>
      <p:sp>
        <p:nvSpPr>
          <p:cNvPr id="10" name="Oval 9"/>
          <p:cNvSpPr/>
          <p:nvPr/>
        </p:nvSpPr>
        <p:spPr>
          <a:xfrm>
            <a:off x="3657508" y="3291839"/>
            <a:ext cx="365760" cy="365760"/>
          </a:xfrm>
          <a:prstGeom prst="ellipse">
            <a:avLst/>
          </a:prstGeom>
          <a:solidFill>
            <a:srgbClr val="78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5988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② 发起协同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5988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客户经理提申请</a:t>
            </a:r>
          </a:p>
        </p:txBody>
      </p:sp>
      <p:sp>
        <p:nvSpPr>
          <p:cNvPr id="13" name="Oval 12"/>
          <p:cNvSpPr/>
          <p:nvPr/>
        </p:nvSpPr>
        <p:spPr>
          <a:xfrm>
            <a:off x="5730087" y="3291839"/>
            <a:ext cx="365760" cy="365760"/>
          </a:xfrm>
          <a:prstGeom prst="ellipse">
            <a:avLst/>
          </a:prstGeom>
          <a:solidFill>
            <a:srgbClr val="78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8567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③ 总部接单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8567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投行/研究确认</a:t>
            </a:r>
          </a:p>
        </p:txBody>
      </p:sp>
      <p:sp>
        <p:nvSpPr>
          <p:cNvPr id="16" name="Oval 15"/>
          <p:cNvSpPr/>
          <p:nvPr/>
        </p:nvSpPr>
        <p:spPr>
          <a:xfrm>
            <a:off x="7802666" y="3291839"/>
            <a:ext cx="365760" cy="365760"/>
          </a:xfrm>
          <a:prstGeom prst="ellipse">
            <a:avLst/>
          </a:prstGeom>
          <a:solidFill>
            <a:srgbClr val="78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1146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④ 共同服务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1146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双方推进项目</a:t>
            </a:r>
          </a:p>
        </p:txBody>
      </p:sp>
      <p:sp>
        <p:nvSpPr>
          <p:cNvPr id="19" name="Oval 18"/>
          <p:cNvSpPr/>
          <p:nvPr/>
        </p:nvSpPr>
        <p:spPr>
          <a:xfrm>
            <a:off x="9875245" y="3291839"/>
            <a:ext cx="365760" cy="365760"/>
          </a:xfrm>
          <a:prstGeom prst="ellipse">
            <a:avLst/>
          </a:prstGeom>
          <a:solidFill>
            <a:srgbClr val="78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3725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⑤ 分润结算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3725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财务确认分钱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长城证券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1807647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C82"/>
                </a:solidFill>
              </a:defRPr>
            </a:pPr>
            <a:r>
              <a:t>长城证券 · 手拉手协同系统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二、系统整体结构：7 大板块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板块</a:t>
                      </a:r>
                    </a:p>
                  </a:txBody>
                  <a:tcPr>
                    <a:solidFill>
                      <a:srgbClr val="C816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>
                    <a:solidFill>
                      <a:srgbClr val="C816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主要角色</a:t>
                      </a:r>
                    </a:p>
                  </a:txBody>
                  <a:tcPr>
                    <a:solidFill>
                      <a:srgbClr val="C81620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首页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数据概览面板 + 快捷入口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所有人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商机挖掘</a:t>
                      </a:r>
                    </a:p>
                  </a:txBody>
                  <a:tcPr>
                    <a:solidFill>
                      <a:srgbClr val="F7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发现和跟踪目标企业</a:t>
                      </a:r>
                    </a:p>
                  </a:txBody>
                  <a:tcPr>
                    <a:solidFill>
                      <a:srgbClr val="F7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客户经理</a:t>
                      </a:r>
                    </a:p>
                  </a:txBody>
                  <a:tcPr>
                    <a:solidFill>
                      <a:srgbClr val="F7F2F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协同管理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发起 / 跟进 / 确认协同申请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客户经理 + 总部条线 + 合规 + 财务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客户管理</a:t>
                      </a:r>
                    </a:p>
                  </a:txBody>
                  <a:tcPr>
                    <a:solidFill>
                      <a:srgbClr val="F7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维护自己负责的客户档案</a:t>
                      </a:r>
                    </a:p>
                  </a:txBody>
                  <a:tcPr>
                    <a:solidFill>
                      <a:srgbClr val="F7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客户经理</a:t>
                      </a:r>
                    </a:p>
                  </a:txBody>
                  <a:tcPr>
                    <a:solidFill>
                      <a:srgbClr val="F7F2F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协同学院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AI 助手 + 培训材料 + 法规库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所有人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运营管理</a:t>
                      </a:r>
                    </a:p>
                  </a:txBody>
                  <a:tcPr>
                    <a:solidFill>
                      <a:srgbClr val="F7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系统运营配置（管理员）</a:t>
                      </a:r>
                    </a:p>
                  </a:txBody>
                  <a:tcPr>
                    <a:solidFill>
                      <a:srgbClr val="F7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管理员</a:t>
                      </a:r>
                    </a:p>
                  </a:txBody>
                  <a:tcPr>
                    <a:solidFill>
                      <a:srgbClr val="F7F2F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系统设置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系统参数配置（管理员）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6282E"/>
                          </a:solidFill>
                        </a:defRPr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管理员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长城证券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1807647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C82"/>
                </a:solidFill>
              </a:defRPr>
            </a:pPr>
            <a:r>
              <a:t>长城证券 · 手拉手协同系统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第二部分 · 五大功能板块</a:t>
            </a:r>
          </a:p>
          <a:p>
            <a:pPr algn="ctr">
              <a:defRPr sz="1700" b="0">
                <a:solidFill>
                  <a:srgbClr val="F7F2F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逐一讲解常用操作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长城证券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三、首页 —— 你的工作台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989320" cy="5074920"/>
          </a:xfrm>
          <a:prstGeom prst="roundRect">
            <a:avLst/>
          </a:prstGeom>
          <a:solidFill>
            <a:srgbClr val="F8F4F4"/>
          </a:solidFill>
          <a:ln w="12700">
            <a:solidFill>
              <a:srgbClr val="E1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63040"/>
            <a:ext cx="540410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① 顶部 6 个数据卡片：协同总数 / 已对接 / 客户数 / 参与人数 / 产品经理 / 客户经理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② 协同待办（左中）：待办 / 待评，列出需你处理的任务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③ 协同跟进（右中）：查看全部 / 已对接 / 已落储 / 关闭 四态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④ 协同入口（右栏 6 按钮）：新建拜访 · 新建联系人 · 发起协同★ · 协同确认 · 财务确认 · 完善资料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⑤ 辅助工具（9 个）：企业360 · 产业链图谱 · AI舆情 · 知识库 …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⑥ 商机广场（底部）：公开商机线索（控制权出售 / 标的出售等）</a:t>
            </a:r>
          </a:p>
        </p:txBody>
      </p:sp>
      <p:pic>
        <p:nvPicPr>
          <p:cNvPr id="8" name="Picture 7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525377"/>
            <a:ext cx="4983480" cy="249304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长城证券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1807647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C82"/>
                </a:solidFill>
              </a:defRPr>
            </a:pPr>
            <a:r>
              <a:t>长城证券 · 手拉手协同系统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四、商机挖掘 —— 发现与跟踪目标企业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989320" cy="5074920"/>
          </a:xfrm>
          <a:prstGeom prst="roundRect">
            <a:avLst/>
          </a:prstGeom>
          <a:solidFill>
            <a:srgbClr val="F8F4F4"/>
          </a:solidFill>
          <a:ln w="12700">
            <a:solidFill>
              <a:srgbClr val="E1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63040"/>
            <a:ext cx="540410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① 左侧 9 个子功能：我的 / 关注的企业★ / 拜访记录 / 联系人 / 工具箱 / 企业360 / 产业链图谱 / 新闻舆情 / AI舆情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② 「关注的企业」主界面字段：企业名称 · 行业 · 地区 · 注册资本 · 成立时间 · 资本表现 · 是否营销客户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③ 典型工作流：发现目标企业 → +新增加入关注 → 定期看舆情 → 有意向点「申请协同」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④ 顶部支持按企业名称模糊搜索、查询 / 重置</a:t>
            </a:r>
          </a:p>
        </p:txBody>
      </p:sp>
      <p:pic>
        <p:nvPicPr>
          <p:cNvPr id="8" name="Picture 7" descr="02-opportunity-m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535778"/>
            <a:ext cx="4983480" cy="24722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长城证券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1807647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C82"/>
                </a:solidFill>
              </a:defRPr>
            </a:pPr>
            <a:r>
              <a:t>长城证券 · 手拉手协同系统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五、协同管理 —— 核心业务流程  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989320" cy="5074920"/>
          </a:xfrm>
          <a:prstGeom prst="roundRect">
            <a:avLst/>
          </a:prstGeom>
          <a:solidFill>
            <a:srgbClr val="F8F4F4"/>
          </a:solidFill>
          <a:ln w="12700">
            <a:solidFill>
              <a:srgbClr val="E1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63040"/>
            <a:ext cx="540410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① 系统的灵魂：跨部门协作的全部流程都在这里完成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② 左侧 5 个子功能：申请协同★（客户经理发起）/ 协同确认（总部）/ 财务确认（财务）/ 协同伙伴（管理员）/ 并网稽查信息库（合规）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③ 列表三视图：我发起的 / 我对接的 / 全部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④ 关键字段：编号(TH+日期+序号) / 业务大类(投行·研究·资管) / 业务类型 / 状态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⑤ 操作按钮：编辑 / 新增拜访 / 删除 / 处理</a:t>
            </a:r>
          </a:p>
        </p:txBody>
      </p:sp>
      <p:pic>
        <p:nvPicPr>
          <p:cNvPr id="8" name="Picture 7" descr="03-synergy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532559"/>
            <a:ext cx="4983480" cy="247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长城证券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1807647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C82"/>
                </a:solidFill>
              </a:defRPr>
            </a:pPr>
            <a:r>
              <a:t>长城证券 · 手拉手协同系统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五（续）· 协同状态流转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1438612" cy="914400"/>
          </a:xfrm>
          <a:prstGeom prst="roundRect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新建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创建协同</a:t>
            </a:r>
          </a:p>
        </p:txBody>
      </p:sp>
      <p:sp>
        <p:nvSpPr>
          <p:cNvPr id="7" name="Chevron 6"/>
          <p:cNvSpPr/>
          <p:nvPr/>
        </p:nvSpPr>
        <p:spPr>
          <a:xfrm>
            <a:off x="1886668" y="2496312"/>
            <a:ext cx="219456" cy="219456"/>
          </a:xfrm>
          <a:prstGeom prst="chevron">
            <a:avLst/>
          </a:prstGeom>
          <a:solidFill>
            <a:srgbClr val="78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96980" y="2148840"/>
            <a:ext cx="1438612" cy="914400"/>
          </a:xfrm>
          <a:prstGeom prst="round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待填报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补充信息</a:t>
            </a:r>
          </a:p>
        </p:txBody>
      </p:sp>
      <p:sp>
        <p:nvSpPr>
          <p:cNvPr id="9" name="Chevron 8"/>
          <p:cNvSpPr/>
          <p:nvPr/>
        </p:nvSpPr>
        <p:spPr>
          <a:xfrm>
            <a:off x="3526448" y="2496312"/>
            <a:ext cx="219456" cy="219456"/>
          </a:xfrm>
          <a:prstGeom prst="chevron">
            <a:avLst/>
          </a:prstGeom>
          <a:solidFill>
            <a:srgbClr val="78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36760" y="2148840"/>
            <a:ext cx="1438612" cy="914400"/>
          </a:xfrm>
          <a:prstGeom prst="round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待确认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等总部接单</a:t>
            </a:r>
          </a:p>
        </p:txBody>
      </p:sp>
      <p:sp>
        <p:nvSpPr>
          <p:cNvPr id="11" name="Chevron 10"/>
          <p:cNvSpPr/>
          <p:nvPr/>
        </p:nvSpPr>
        <p:spPr>
          <a:xfrm>
            <a:off x="5166229" y="2496312"/>
            <a:ext cx="219456" cy="219456"/>
          </a:xfrm>
          <a:prstGeom prst="chevron">
            <a:avLst/>
          </a:prstGeom>
          <a:solidFill>
            <a:srgbClr val="78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376541" y="2148840"/>
            <a:ext cx="1438612" cy="914400"/>
          </a:xfrm>
          <a:prstGeom prst="roundRect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已确认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总部接单</a:t>
            </a:r>
          </a:p>
        </p:txBody>
      </p:sp>
      <p:sp>
        <p:nvSpPr>
          <p:cNvPr id="13" name="Chevron 12"/>
          <p:cNvSpPr/>
          <p:nvPr/>
        </p:nvSpPr>
        <p:spPr>
          <a:xfrm>
            <a:off x="6806009" y="2496312"/>
            <a:ext cx="219456" cy="219456"/>
          </a:xfrm>
          <a:prstGeom prst="chevron">
            <a:avLst/>
          </a:prstGeom>
          <a:solidFill>
            <a:srgbClr val="78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16321" y="2148840"/>
            <a:ext cx="1438612" cy="914400"/>
          </a:xfrm>
          <a:prstGeom prst="roundRect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审批中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合规审批</a:t>
            </a:r>
          </a:p>
        </p:txBody>
      </p:sp>
      <p:sp>
        <p:nvSpPr>
          <p:cNvPr id="15" name="Chevron 14"/>
          <p:cNvSpPr/>
          <p:nvPr/>
        </p:nvSpPr>
        <p:spPr>
          <a:xfrm>
            <a:off x="8445790" y="2496312"/>
            <a:ext cx="219456" cy="219456"/>
          </a:xfrm>
          <a:prstGeom prst="chevron">
            <a:avLst/>
          </a:prstGeom>
          <a:solidFill>
            <a:srgbClr val="78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56102" y="2148840"/>
            <a:ext cx="1438612" cy="914400"/>
          </a:xfrm>
          <a:prstGeom prst="roundRect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执行中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推进项目</a:t>
            </a:r>
          </a:p>
        </p:txBody>
      </p:sp>
      <p:sp>
        <p:nvSpPr>
          <p:cNvPr id="17" name="Chevron 16"/>
          <p:cNvSpPr/>
          <p:nvPr/>
        </p:nvSpPr>
        <p:spPr>
          <a:xfrm>
            <a:off x="10085570" y="2496312"/>
            <a:ext cx="219456" cy="219456"/>
          </a:xfrm>
          <a:prstGeom prst="chevron">
            <a:avLst/>
          </a:prstGeom>
          <a:solidFill>
            <a:srgbClr val="78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95882" y="2148840"/>
            <a:ext cx="1438612" cy="914400"/>
          </a:xfrm>
          <a:prstGeom prst="roundRect">
            <a:avLst/>
          </a:prstGeom>
          <a:solidFill>
            <a:srgbClr val="388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完成</a:t>
            </a:r>
          </a:p>
          <a:p>
            <a:pPr algn="ctr">
              <a:defRPr sz="950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已落储归档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94760"/>
            <a:ext cx="11091672" cy="2240280"/>
          </a:xfrm>
          <a:prstGeom prst="roundRect">
            <a:avLst/>
          </a:prstGeom>
          <a:solidFill>
            <a:srgbClr val="F7F2F2"/>
          </a:solidFill>
          <a:ln w="12700">
            <a:solidFill>
              <a:srgbClr val="E1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600"/>
              </a:spcAft>
              <a:defRPr sz="130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▲ 发起人在「待填报 / 待确认」阶段可编辑或删除协同申请；</a:t>
            </a:r>
            <a:br/>
            <a:r>
              <a:rPr>
                <a:latin typeface="微软雅黑"/>
                <a:ea typeface="微软雅黑"/>
                <a:cs typeface="微软雅黑"/>
              </a:rPr>
              <a:t>▲ 一旦进入「审批中」及之后阶段，只能查看，需联系管理员或走驳回流程；</a:t>
            </a:r>
            <a:br/>
            <a:r>
              <a:rPr>
                <a:latin typeface="微软雅黑"/>
                <a:ea typeface="微软雅黑"/>
                <a:cs typeface="微软雅黑"/>
              </a:rPr>
              <a:t>▲ 总部条线在「协同确认」接单后，状态由「待确认」变为「已确认」；</a:t>
            </a:r>
            <a:br/>
            <a:r>
              <a:rPr>
                <a:latin typeface="微软雅黑"/>
                <a:ea typeface="微软雅黑"/>
                <a:cs typeface="微软雅黑"/>
              </a:rPr>
              <a:t>▲ 项目收尾经「财务确认」分润后，状态变为「已落储」（已完成归档）。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长城证券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1807647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C82"/>
                </a:solidFill>
              </a:defRPr>
            </a:pPr>
            <a:r>
              <a:t>长城证券 · 手拉手协同系统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六、客户管理 —— 维护客户档案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989320" cy="5074920"/>
          </a:xfrm>
          <a:prstGeom prst="roundRect">
            <a:avLst/>
          </a:prstGeom>
          <a:solidFill>
            <a:srgbClr val="F8F4F4"/>
          </a:solidFill>
          <a:ln w="12700">
            <a:solidFill>
              <a:srgbClr val="E1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63040"/>
            <a:ext cx="540410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① 与协同管理的区别：本板块管「人 / 企业」，协同管理管「事 / 项目」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② 左侧 2 个子功能：我服务的客户★ / 潜在客户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③ 筛选 4 维度：客户名称 / 行业 / 地区 / 类型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④ 列表字段：客户名称 · 行业 · 地区 · 类型 · 拜访次数 · 联系人数量 · 协同数量 · 导入时间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⑤ 支持批量「导入」客户数据（Excel 模板）</a:t>
            </a:r>
          </a:p>
        </p:txBody>
      </p:sp>
      <p:pic>
        <p:nvPicPr>
          <p:cNvPr id="8" name="Picture 7" descr="04-customer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547521"/>
            <a:ext cx="4983480" cy="24487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长城证券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1807647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C82"/>
                </a:solidFill>
              </a:defRPr>
            </a:pPr>
            <a:r>
              <a:t>长城证券 · 手拉手协同系统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七、协同学院 —— AI 助手 &amp; 学习中心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989320" cy="5074920"/>
          </a:xfrm>
          <a:prstGeom prst="roundRect">
            <a:avLst/>
          </a:prstGeom>
          <a:solidFill>
            <a:srgbClr val="F8F4F4"/>
          </a:solidFill>
          <a:ln w="12700">
            <a:solidFill>
              <a:srgbClr val="E1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63040"/>
            <a:ext cx="5404104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① 左侧 6 个子功能：AI协同助手★ / 视频专区 / 培训材料 / 公司产品库 / 法规库 / 案例库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② AI 协同助手 = 专为手拉手业务训练的 ChatGPT 式对话机器人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③ 界面组成：+新建对话 / 对话历史 / 底部输入框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④ 可问：北交所上市条件？可交债与公司债区别？客户想发债需备哪些材料？</a:t>
            </a:r>
          </a:p>
          <a:p>
            <a:pPr>
              <a:lnSpc>
                <a:spcPct val="106000"/>
              </a:lnSpc>
              <a:spcAft>
                <a:spcPts val="900"/>
              </a:spcAft>
              <a:defRPr sz="135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⑤ ⚠ 免责声明：内容由 AI 生成，仅供参考，商业决策请人工核实</a:t>
            </a:r>
          </a:p>
        </p:txBody>
      </p:sp>
      <p:pic>
        <p:nvPicPr>
          <p:cNvPr id="8" name="Picture 7" descr="05-ai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540993"/>
            <a:ext cx="4983480" cy="24618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长城证券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1807647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C82"/>
                </a:solidFill>
              </a:defRPr>
            </a:pPr>
            <a:r>
              <a:t>长城证券 · 手拉手协同系统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第三部分 · 实操与答疑</a:t>
            </a:r>
          </a:p>
          <a:p>
            <a:pPr algn="ctr">
              <a:defRPr sz="1700" b="0">
                <a:solidFill>
                  <a:srgbClr val="F7F2F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完整工作流 &amp; 常见问题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长城证券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八、完整工作流：一次协同从 0 到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657600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27632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① 商机挖掘</a:t>
            </a:r>
          </a:p>
          <a:p>
            <a:pPr>
              <a:lnSpc>
                <a:spcPct val="105000"/>
              </a:lnSpc>
              <a:defRPr sz="120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在「关注的企业」发现，或用「企业360」搜到；看舆情判断有发债需求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657600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63440" y="1600200"/>
            <a:ext cx="548640" cy="548640"/>
          </a:xfrm>
          <a:prstGeom prst="ellipse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627632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② 发起协同</a:t>
            </a:r>
          </a:p>
          <a:p>
            <a:pPr>
              <a:lnSpc>
                <a:spcPct val="105000"/>
              </a:lnSpc>
              <a:defRPr sz="120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首页「发起协同」或协同管理「+新增」，业务大类=投行、类型=公司债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371600"/>
            <a:ext cx="3657600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49640" y="1600200"/>
            <a:ext cx="548640" cy="548640"/>
          </a:xfrm>
          <a:prstGeom prst="ellipse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627632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③ 待确认</a:t>
            </a:r>
          </a:p>
          <a:p>
            <a:pPr>
              <a:lnSpc>
                <a:spcPct val="105000"/>
              </a:lnSpc>
              <a:defRPr sz="120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状态变「待确认」，等总部投行接单；可随时编辑 / 新增拜访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3657600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096512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④ 总部接单</a:t>
            </a:r>
          </a:p>
          <a:p>
            <a:pPr>
              <a:lnSpc>
                <a:spcPct val="105000"/>
              </a:lnSpc>
              <a:defRPr sz="120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对方在「我对接的」点「协同确认」→ 状态变「已确认」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840480"/>
            <a:ext cx="3657600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63440" y="4069080"/>
            <a:ext cx="548640" cy="548640"/>
          </a:xfrm>
          <a:prstGeom prst="ellipse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4096512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⑤ 执行</a:t>
            </a:r>
          </a:p>
          <a:p>
            <a:pPr>
              <a:lnSpc>
                <a:spcPct val="105000"/>
              </a:lnSpc>
              <a:defRPr sz="120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双方用拜访记录沟通，必要时问 AI 协同助手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3840480"/>
            <a:ext cx="3657600" cy="22402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49640" y="4069080"/>
            <a:ext cx="548640" cy="548640"/>
          </a:xfrm>
          <a:prstGeom prst="ellipse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4096512"/>
            <a:ext cx="2560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5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⑥ 收尾</a:t>
            </a:r>
          </a:p>
          <a:p>
            <a:pPr>
              <a:lnSpc>
                <a:spcPct val="105000"/>
              </a:lnSpc>
              <a:defRPr sz="120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财务确认分润 → 状态「已落储」，全程结束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长城证券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11807647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C82"/>
                </a:solidFill>
              </a:defRPr>
            </a:pPr>
            <a:r>
              <a:t>长城证券 · 手拉手协同系统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九、常见问题 FAQ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Q：可以和同事同时编辑同一协同吗？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  A：可同时查看；同一字段建议不要同时改，关键节点有状态锁防冲突。</a:t>
            </a:r>
          </a:p>
          <a:p>
            <a:pPr>
              <a:spcAft>
                <a:spcPts val="400"/>
              </a:spcAft>
              <a:defRPr sz="200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Q：发起协同后能撤回吗？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  A：「待填报 / 待确认」阶段可点「删除」撤回；进入「审批中」后需走驳回流程。</a:t>
            </a:r>
          </a:p>
          <a:p>
            <a:pPr>
              <a:spcAft>
                <a:spcPts val="400"/>
              </a:spcAft>
              <a:defRPr sz="200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Q：AI 回答能直接给客户看吗？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  A：不建议。AI 仅供参考，给客户的承诺须内部确认。</a:t>
            </a:r>
          </a:p>
          <a:p>
            <a:pPr>
              <a:spcAft>
                <a:spcPts val="400"/>
              </a:spcAft>
              <a:defRPr sz="200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Q：商机广场的线索谁发的？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  A：通常总部产品经理 / 营业部负责人发布（控制权出售、标的出售等）。</a:t>
            </a:r>
          </a:p>
          <a:p>
            <a:pPr>
              <a:spcAft>
                <a:spcPts val="400"/>
              </a:spcAft>
              <a:defRPr sz="2000" b="1">
                <a:solidFill>
                  <a:srgbClr val="C81620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Q：拜访记录在哪里看？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  A：① 商机挖掘 → 拜访记录；② 协同管理 → 某协同的「新增拜访」。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长城证券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1807647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C82"/>
                </a:solidFill>
              </a:defRPr>
            </a:pPr>
            <a:r>
              <a:t>长城证券 · 手拉手协同系统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816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9971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首页看全局 · 商机挖客户 · 协同管流程 · 客户管档案 · 学院问问题</a:t>
            </a:r>
          </a:p>
          <a:p>
            <a:pPr>
              <a:spcAft>
                <a:spcPts val="1000"/>
              </a:spcAft>
              <a:defRPr sz="1700" b="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五大板块各司其职，协同管理是核心；</a:t>
            </a:r>
          </a:p>
          <a:p>
            <a:pPr>
              <a:spcAft>
                <a:spcPts val="1000"/>
              </a:spcAft>
              <a:defRPr sz="1700" b="0">
                <a:solidFill>
                  <a:srgbClr val="26282E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核心闭环：发现 → 发起协同 → 总部接单 → 共同服务 → 分润结算（全程线上留痕）。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787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内测版功能可能随版本调整，以实际系统为准，欢迎向产品团队反馈。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长城证券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1807647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87C82"/>
                </a:solidFill>
              </a:defRPr>
            </a:pPr>
            <a:r>
              <a:t>长城证券 · 手拉手协同系统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16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87C8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C9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3400" b="1">
                <a:solidFill>
                  <a:srgbClr val="FFFFFF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谢谢观看 · 欢迎反馈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340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700"/>
              </a:spcAft>
              <a:defRPr sz="1700" b="0">
                <a:solidFill>
                  <a:srgbClr val="F7F2F2"/>
                </a:solidFill>
              </a:defRPr>
            </a:pPr>
            <a:r>
              <a:rPr>
                <a:latin typeface="微软雅黑"/>
                <a:ea typeface="微软雅黑"/>
                <a:cs typeface="微软雅黑"/>
              </a:rPr>
              <a:t>手拉手协同系统 · 新人培训课件</a:t>
            </a:r>
            <a:br/>
            <a:r>
              <a:rPr>
                <a:latin typeface="微软雅黑"/>
                <a:ea typeface="微软雅黑"/>
                <a:cs typeface="微软雅黑"/>
              </a:rPr>
              <a:t>基于 UAT 内测版截图编写</a:t>
            </a:r>
            <a:br/>
            <a:r>
              <a:rPr>
                <a:latin typeface="微软雅黑"/>
                <a:ea typeface="微软雅黑"/>
                <a:cs typeface="微软雅黑"/>
              </a:rPr>
              <a:t>问题 / 建议请联系产品管理团队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146304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b="1">
                <a:solidFill>
                  <a:srgbClr val="FFFFFF"/>
                </a:solidFill>
              </a:defRPr>
            </a:pPr>
            <a:r>
              <a:t>长城证券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