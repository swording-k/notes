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84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5" r:id="rId12"/>
    <p:sldId id="266" r:id="rId13"/>
    <p:sldId id="264" r:id="rId14"/>
    <p:sldId id="281" r:id="rId15"/>
    <p:sldId id="268" r:id="rId16"/>
    <p:sldId id="270" r:id="rId17"/>
    <p:sldId id="271" r:id="rId18"/>
    <p:sldId id="276" r:id="rId19"/>
    <p:sldId id="283" r:id="rId20"/>
    <p:sldId id="273" r:id="rId21"/>
    <p:sldId id="274" r:id="rId22"/>
    <p:sldId id="282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商机广场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操作全流程介绍</a:t>
            </a:r>
            <a:endParaRPr sz="2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38328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长城长 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产品使用文档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20640" y="283464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2026 年 7 月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20640" y="320040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商机广场 · 手机端</a:t>
            </a:r>
            <a:endParaRPr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89920" y="6035040"/>
            <a:ext cx="914400" cy="73152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525" y="127000"/>
            <a:ext cx="3920490" cy="84709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使用角色，流程概</a:t>
            </a:r>
            <a:r>
              <a:rPr lang="zh-CN"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况介绍</a:t>
            </a:r>
            <a:endParaRPr lang="zh-CN" sz="2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955" y="772795"/>
            <a:ext cx="4368165" cy="702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使用角色包括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商机发布人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zh-CN" altLang="en-US">
                <a:solidFill>
                  <a:schemeClr val="bg1"/>
                </a:solidFill>
              </a:rPr>
              <a:t>商机接收人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zh-CN" altLang="en-US">
                <a:solidFill>
                  <a:schemeClr val="bg1"/>
                </a:solidFill>
              </a:rPr>
              <a:t>商机审核员。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620" y="1722120"/>
            <a:ext cx="40805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操作流程大致包括：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商机发布人</a:t>
            </a:r>
            <a:r>
              <a:rPr lang="en-US" altLang="zh-CN"/>
              <a:t> A </a:t>
            </a:r>
            <a:r>
              <a:rPr lang="zh-CN" altLang="en-US"/>
              <a:t>发布商机；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审核员审核商机；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商机接收人</a:t>
            </a:r>
            <a:r>
              <a:rPr lang="en-US" altLang="zh-CN"/>
              <a:t> B </a:t>
            </a:r>
            <a:r>
              <a:rPr lang="zh-CN" altLang="en-US"/>
              <a:t>申请对接；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成功撮合商机。</a:t>
            </a:r>
            <a:endParaRPr lang="zh-CN" altLang="en-US"/>
          </a:p>
        </p:txBody>
      </p:sp>
      <p:pic>
        <p:nvPicPr>
          <p:cNvPr id="7" name="图片 6" descr="8c348f1c-e305-4a6f-8d9e-ef4dc111b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3580" y="1057275"/>
            <a:ext cx="2597785" cy="5633085"/>
          </a:xfrm>
          <a:prstGeom prst="rect">
            <a:avLst/>
          </a:prstGeom>
        </p:spPr>
      </p:pic>
      <p:pic>
        <p:nvPicPr>
          <p:cNvPr id="8" name="图片 7" descr="ebb81bed-11b9-4437-8d69-6ae7e4e9e2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1057275"/>
            <a:ext cx="2622550" cy="5687695"/>
          </a:xfrm>
          <a:prstGeom prst="rect">
            <a:avLst/>
          </a:prstGeom>
        </p:spPr>
      </p:pic>
      <p:pic>
        <p:nvPicPr>
          <p:cNvPr id="9" name="图片 8" descr="3a4b8d24-d2b8-4ef0-9078-e21c5b71d7b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83310"/>
            <a:ext cx="2611755" cy="56616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9720" y="3447415"/>
            <a:ext cx="39154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用户可以从长城长一工作台中进入商机广场，主要页面有商机广场首页以及</a:t>
            </a:r>
            <a:r>
              <a:rPr lang="en-US" altLang="zh-CN"/>
              <a:t>“</a:t>
            </a:r>
            <a:r>
              <a:rPr lang="zh-CN" altLang="en-US"/>
              <a:t>我的</a:t>
            </a:r>
            <a:r>
              <a:rPr lang="en-US" altLang="zh-CN"/>
              <a:t>”</a:t>
            </a:r>
            <a:r>
              <a:rPr lang="zh-CN" altLang="en-US"/>
              <a:t>。用户可筛选</a:t>
            </a:r>
            <a:r>
              <a:rPr lang="zh-CN" altLang="en-US"/>
              <a:t>与浏览首页的全部商机，在我的页面中可以看到自己的成就面板，以及发布与对接的相关商机信息。。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731520" y="164592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sz="30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645920" y="16916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商机发布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645920" y="21488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商机发布人</a:t>
            </a:r>
            <a:r>
              <a:rPr lang="en-US" alt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发布一条完整商机所需填写的信息与提交流程</a:t>
            </a:r>
            <a:endParaRPr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31520" y="278892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endParaRPr sz="30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1645920" y="2834639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接受</a:t>
            </a:r>
            <a:r>
              <a:rPr lang="zh-CN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endParaRPr lang="zh-CN"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1645920" y="3291839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管理员审核商机并发布到</a:t>
            </a:r>
            <a:r>
              <a:rPr 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商机广场</a:t>
            </a:r>
            <a:endParaRPr lang="zh-CN"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731520" y="393192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endParaRPr sz="30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1645920" y="3977639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对接商机</a:t>
            </a:r>
            <a:endParaRPr lang="zh-CN" altLang="en-US"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1645920" y="44348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员工</a:t>
            </a:r>
            <a:r>
              <a:rPr lang="en-US" alt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在商机广场浏览商机并</a:t>
            </a:r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选择对接</a:t>
            </a:r>
            <a:endParaRPr lang="zh-CN" altLang="en-US"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731520" y="507492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endParaRPr sz="30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1645920" y="51206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alt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成功</a:t>
            </a:r>
            <a:r>
              <a:rPr lang="zh-CN" alt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撮合</a:t>
            </a:r>
            <a:endParaRPr lang="zh-CN" altLang="en-US"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1645920" y="55778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AB</a:t>
            </a:r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双方进行线下洽谈并确认撮合。</a:t>
            </a:r>
            <a:endParaRPr lang="zh-CN" altLang="en-US"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sz="7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商机发布</a:t>
            </a:r>
            <a:endParaRPr sz="3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3108960"/>
            <a:ext cx="32004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发布一条完整商机所需填写的信息与提交流程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1</a:t>
            </a:r>
            <a:endParaRPr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2440940"/>
            <a:ext cx="3749040" cy="3538855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发布人进入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长城长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中的商机广场，点击中间的红色加号，进入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商机填报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页面。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该页面是商机广场的主页面，可以看到商机广场的统计信息，并且进行筛选。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836" y="347472"/>
            <a:ext cx="2961046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564" y="457200"/>
            <a:ext cx="274159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4159885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</a:rPr>
              <a:t>       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需要在商机概况中选择对应的商机类型、填写商机标题以及选择有效期。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100" b="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617" y="347472"/>
            <a:ext cx="2961484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345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接下来填写企业信息，包括企业名称、所在地区以及所属行业。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617" y="347472"/>
            <a:ext cx="2961484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345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4</a:t>
            </a:r>
            <a:endParaRPr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     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在详细需求页面中选择意向行业，其余表单信息（例如意向业务、营收及利润、门槛、协同效应、估值区间等）可以选择填写。（填写得越详细，获得推荐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以及商机撮合成功的概率越高。）</a:t>
            </a:r>
            <a:endParaRPr lang="zh-CN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100" b="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617" y="347472"/>
            <a:ext cx="2961484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345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5</a:t>
            </a:r>
            <a:endParaRPr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5660" y="1828800"/>
            <a:ext cx="480187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接下来选择渠道关系以及自己的相关信息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（操作者可随时退回上一步修改表单信息）</a:t>
            </a:r>
            <a:endParaRPr lang="zh-CN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617" y="347472"/>
            <a:ext cx="2961484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345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6</a:t>
            </a:r>
            <a:endParaRPr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提交成功后，需要等待审核人员处理。审核成功后，才会发布到商机广场，并且会通过长城长消息通知您。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617" y="347472"/>
            <a:ext cx="2961484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345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7</a:t>
            </a:r>
            <a:endParaRPr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已经提交但还没有审核成功的商机将会存在于未发布列表中。</a:t>
            </a:r>
            <a:endParaRPr lang="zh-CN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617" y="347472"/>
            <a:ext cx="2961484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345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endParaRPr sz="7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接受审核</a:t>
            </a:r>
            <a:endParaRPr sz="3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3108960"/>
            <a:ext cx="32004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管理员审核商机并发布到商机广场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二，接受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endParaRPr lang="zh-CN"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后台审核人员将会看到审核通知。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730" y="457200"/>
            <a:ext cx="2742028" cy="5943600"/>
          </a:xfrm>
          <a:prstGeom prst="rect">
            <a:avLst/>
          </a:prstGeom>
        </p:spPr>
      </p:pic>
      <p:pic>
        <p:nvPicPr>
          <p:cNvPr id="12" name="Picture 9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780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二，接受审核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9</a:t>
            </a:r>
            <a:endParaRPr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审核员将择优选择推荐商机或者驳回。</a:t>
            </a:r>
            <a:endParaRPr lang="zh-CN">
              <a:solidFill>
                <a:schemeClr val="tx1"/>
              </a:solidFill>
            </a:endParaRPr>
          </a:p>
        </p:txBody>
      </p:sp>
      <p:pic>
        <p:nvPicPr>
          <p:cNvPr id="10" name="Picture 9" descr="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5410" y="457200"/>
            <a:ext cx="2742028" cy="5943600"/>
          </a:xfrm>
          <a:prstGeom prst="rect">
            <a:avLst/>
          </a:prstGeom>
        </p:spPr>
      </p:pic>
      <p:pic>
        <p:nvPicPr>
          <p:cNvPr id="12" name="Picture 9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980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endParaRPr sz="7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对接商机</a:t>
            </a:r>
            <a:endParaRPr sz="3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3108960"/>
            <a:ext cx="32004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员工</a:t>
            </a:r>
            <a:r>
              <a:rPr lang="en-US" altLang="zh-CN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在商机广场浏览商机并选择对接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en-US"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对接商机</a:t>
            </a:r>
            <a:endParaRPr lang="zh-CN" altLang="en-US"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1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企业员工将会在商机广场中看到该商机，并选择对接申请，需要填写申请理由。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对接申请提交后，将等待商机发布人处理。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2055" y="390525"/>
            <a:ext cx="2742028" cy="5943600"/>
          </a:xfrm>
          <a:prstGeom prst="rect">
            <a:avLst/>
          </a:prstGeom>
        </p:spPr>
      </p:pic>
      <p:pic>
        <p:nvPicPr>
          <p:cNvPr id="12" name="Picture 9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595" y="390525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endParaRPr sz="7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altLang="en-US"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成功撮合</a:t>
            </a:r>
            <a:endParaRPr sz="3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3108960"/>
            <a:ext cx="32004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AB</a:t>
            </a:r>
            <a:r>
              <a:rPr lang="zh-CN" altLang="en-US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双方进行线下洽谈并确认撮合。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四、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成功撮合</a:t>
            </a:r>
            <a:endParaRPr lang="zh-CN"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商机发布人将在通知中看到新的对接申请，点击进入后可同意对接。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617" y="347472"/>
            <a:ext cx="2961484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345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成功撮合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商机发布人可在商机详情中看到对接申请，同意后，双方将进行线下洽谈。选择同意后可确认撮合。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0290" y="502920"/>
            <a:ext cx="2742028" cy="5943600"/>
          </a:xfrm>
          <a:prstGeom prst="rect">
            <a:avLst/>
          </a:prstGeom>
        </p:spPr>
      </p:pic>
      <p:pic>
        <p:nvPicPr>
          <p:cNvPr id="13" name="Picture 9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125" y="50292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成功撮合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1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188335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最终确认撮合后，该商业机会的状态将显示为撮合成功。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5525" y="389255"/>
            <a:ext cx="2742028" cy="5943600"/>
          </a:xfrm>
          <a:prstGeom prst="rect">
            <a:avLst/>
          </a:prstGeom>
        </p:spPr>
      </p:pic>
      <p:pic>
        <p:nvPicPr>
          <p:cNvPr id="12" name="Picture 9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455" y="389255"/>
            <a:ext cx="2742028" cy="5943600"/>
          </a:xfrm>
          <a:prstGeom prst="rect">
            <a:avLst/>
          </a:prstGeom>
        </p:spPr>
      </p:pic>
      <p:pic>
        <p:nvPicPr>
          <p:cNvPr id="13" name="Picture 9" descr="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865" y="389255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商机广场操作全流程介绍</a:t>
            </a:r>
            <a:endParaRPr sz="28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— 完 —</a:t>
            </a:r>
            <a:endParaRPr sz="16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94960" y="4114800"/>
            <a:ext cx="13716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长城长平台</a:t>
            </a:r>
            <a:endParaRPr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2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3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4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5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6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7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8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9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10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11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12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1167</Words>
  <Application>WPS 演示</Application>
  <PresentationFormat>On-screen Show (4:3)</PresentationFormat>
  <Paragraphs>190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杨锟</cp:lastModifiedBy>
  <cp:revision>3</cp:revision>
  <dcterms:created xsi:type="dcterms:W3CDTF">2013-01-27T09:14:00Z</dcterms:created>
  <dcterms:modified xsi:type="dcterms:W3CDTF">2026-07-14T08:24:25Z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2052-12.1.0.26899</vt:lpwstr>
  </property>
  <property fmtid="{D5CDD505-2E9C-101B-9397-08002B2CF9AE}" pid="3" name="ICV">
    <vt:lpwstr>05E79DA0A8A740169503A77155569928_13</vt:lpwstr>
  </property>
</Properties>
</file>