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'1.0' encoding='UTF-8' standalone='yes'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SPWMG6GH79TQ00BGQAR8PL0J7NLMOSVREN0XFJDWXGP8TQLTZ6BJICJVFSTTPBRRXSMXCOL5ZHKD8IXJQOFTPF8D8RNMWL5B8NOOYHB34368F15190FD295DD178BF9093625417" Type="http://schemas.microsoft.com/office/2006/relationships/officeDocumentMain" Target="docProps/core.xml"/><Relationship Id="SYWF06BA7RYA0V9GRVR8PLJZ7ZQMOXGREX06XJDWXGORTFWTZ6BJIC0EFY5TPBRRXFM69OLRZIWD8LXJENFT6F8D8RZ0WMCBAXODQHB312833AA96E265E3A5399803E9CF815CE" Type="http://schemas.microsoft.com/office/2006/relationships/officeDocumentExtended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</a:t>
            </a:r>
          </a:p>
          <a:p>
            <a:r>
              <a:rPr sz="2400" b="0">
                <a:solidFill>
                  <a:srgbClr val="C8A028"/>
                </a:solidFill>
                <a:latin typeface="Microsoft YaHei"/>
                <a:ea typeface="Microsoft YaHei"/>
                <a:cs typeface="Microsoft YaHei"/>
              </a:rPr>
              <a:t>新人教学 · 操作指引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5D5D9"/>
                </a:solidFill>
                <a:latin typeface="Microsoft YaHei"/>
                <a:ea typeface="Microsoft YaHei"/>
                <a:cs typeface="Microsoft YaHei"/>
              </a:rPr>
              <a:t>适用对象：分支机构员工（客户经理）、总部条线人员（投行 / 研究 / 资管）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5D5D9"/>
                </a:solidFill>
                <a:latin typeface="Microsoft YaHei"/>
                <a:ea typeface="Microsoft YaHei"/>
                <a:cs typeface="Microsoft YaHei"/>
              </a:rPr>
              <a:t>系统版本：内测版（UAT 环境）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5D5D9"/>
                </a:solidFill>
                <a:latin typeface="Microsoft YaHei"/>
                <a:ea typeface="Microsoft YaHei"/>
                <a:cs typeface="Microsoft YaHei"/>
              </a:rPr>
              <a:t>部署底座：企业微信私有版 · 长城长数字化体系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5D5D9"/>
                </a:solidFill>
                <a:latin typeface="Microsoft YaHei"/>
                <a:ea typeface="Microsoft YaHei"/>
                <a:cs typeface="Microsoft YaHei"/>
              </a:rPr>
              <a:t>（访问地址以实际部署为准，本课件不记载内测链接）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一、系统是什么？30 秒看懂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定位：长城证券内部「跨部门业务协同平台」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核心痛点：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分支机构有客户，但干不了专业业务（上市 / 发债 / 并购 / 研究）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总部有能力，但离客户远、缺项目来源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手拉手怎么解决：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发现商机 → 发起协同 → 总部接单 → 共同服务 → 分润结算（全程线上留痕）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一句话：让有客户的分支机构与有能力的总部条线，线上高效协同、合理分钱。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17320"/>
            <a:ext cx="4206240" cy="658368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发现商机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350008"/>
            <a:ext cx="4206240" cy="658368"/>
          </a:xfrm>
          <a:prstGeom prst="roundRect">
            <a:avLst/>
          </a:prstGeom>
          <a:solidFill>
            <a:srgbClr val="7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发起协同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282696"/>
            <a:ext cx="4206240" cy="658368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总部接单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215384"/>
            <a:ext cx="4206240" cy="658368"/>
          </a:xfrm>
          <a:prstGeom prst="roundRect">
            <a:avLst/>
          </a:prstGeom>
          <a:solidFill>
            <a:srgbClr val="7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共同服务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5148072"/>
            <a:ext cx="4206240" cy="658368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分润结算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二、系统整体结构：7 大板块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20"/>
                <a:gridCol w="5623560"/>
                <a:gridCol w="374904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板块</a:t>
                      </a:r>
                    </a:p>
                  </a:txBody>
                  <a:tcPr marL="64008" marR="64008" marT="27432" marB="27432" anchor="ctr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64008" marR="64008" marT="27432" marB="27432" anchor="ctr"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主要角色</a:t>
                      </a:r>
                    </a:p>
                  </a:txBody>
                  <a:tcPr marL="64008" marR="64008" marT="27432" marB="27432" anchor="ctr">
                    <a:solidFill>
                      <a:srgbClr val="C8102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数据概览面板 + 快捷入口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商机挖掘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发现和跟踪目标企业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客户经理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协同管理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 / 跟进 / 确认协同申请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客户经理+总部条线+合规+财务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客户管理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维护自己负责的客户档案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客户经理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协同学院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助手 + 培训材料 + 法规库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所有人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运营管理 *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系统运营配置（管理员）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</a:t>
                      </a:r>
                    </a:p>
                  </a:txBody>
                  <a:tcPr marL="64008" marR="64008" marT="27432" marB="27432" anchor="ctr">
                    <a:solidFill>
                      <a:srgbClr val="F7F3F4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系统设置 *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系统参数配置（管理员）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* 运营管理、系统设置为管理员专用模块，普通用户无需关注。前 5 个板块逐一讲解。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三、首页 —— 你的工作台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99110"/>
            <a:ext cx="8321040" cy="4162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234440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① 顶部 6 个数据卡片：协同总数 / 已对接 / 客户数 / 参与人数 / 产品经理 / 客户经理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② 协同待办（左中）：待办 / 待评，列出需你处理的任务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③ 协同跟进（右中）：查看全部 / 已对接 / 已落储 / 关闭 四态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④ 协同入口（右栏 6 按钮）：新建拜访 · 新建联系人 · 发起协同★ · 协同确认 · 财务确认 · 完善资料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⑤ 辅助工具（9 个）：企业360 / 客户内视图 / 产业链图谱 / AI产业链 / 新闻舆情 / AI舆情 / 知识库 / AI协同助手 / 政策法规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⑥ 商机广场（底部）：出售上市公司控制权、标的出售等公开线索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四、商机挖掘 —— 发现与跟踪目标企业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opportunity-m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16477"/>
            <a:ext cx="8321040" cy="4127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234440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① 左侧 9 个子功能：我的 / 关注的企业★ / 拜访记录 / 联系人 / 工具箱 / 企业360 / 产业链图谱 / 新闻舆情 / AI舆情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② 「关注的企业」主界面字段：企业名称 · 行业 · 所在地区 · 注册资本 · 成立时间</a:t>
            </a:r>
          </a:p>
          <a:p>
            <a:pPr lvl="1">
              <a:spcAft>
                <a:spcPts val="600"/>
              </a:spcAft>
            </a:pPr>
            <a:r>
              <a:rPr sz="10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资本表现（A轮 / 未融资…） · 是否营销客户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③ 典型工作流：发现目标企业 → +新增加入关注 → 定期看舆情 → 有意向点「申请协同」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五、协同管理 —— 核心业务流程 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synergy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11103"/>
            <a:ext cx="8321040" cy="4138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234440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系统的灵魂：跨部门协作的全部流程都在这里完成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① 左侧 5 个子功能：申请协同★（客户经理发起） / 协同确认（总部） / 财务确认（财务） / 协同伙伴（管理员） / 并网稽查信息库（合规）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② 列表三视图：我发起的 / 我对接的 / 全部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③ 关键字段：编号(TH+日期+序号) / 业务大类(投行·研究·资管) / 业务类型(可交债·公司债·北交所·直播) / 状态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④ 操作：编辑 / 新增拜访 / 删除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五（续）· 协同状态流转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371600" cy="777240"/>
          </a:xfrm>
          <a:prstGeom prst="roundRect">
            <a:avLst/>
          </a:prstGeom>
          <a:solidFill>
            <a:srgbClr val="7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新建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28800" y="1824228"/>
            <a:ext cx="228600" cy="237744"/>
          </a:xfrm>
          <a:prstGeom prst="rightArrow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1554480"/>
            <a:ext cx="1371600" cy="77724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待填报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29000" y="1824228"/>
            <a:ext cx="228600" cy="237744"/>
          </a:xfrm>
          <a:prstGeom prst="rightArrow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1371600" cy="777240"/>
          </a:xfrm>
          <a:prstGeom prst="roundRect">
            <a:avLst/>
          </a:prstGeom>
          <a:solidFill>
            <a:srgbClr val="7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29200" y="1824228"/>
            <a:ext cx="228600" cy="237744"/>
          </a:xfrm>
          <a:prstGeom prst="rightArrow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57800" y="1554480"/>
            <a:ext cx="1371600" cy="77724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29400" y="1824228"/>
            <a:ext cx="228600" cy="237744"/>
          </a:xfrm>
          <a:prstGeom prst="rightArrow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554480"/>
            <a:ext cx="1371600" cy="777240"/>
          </a:xfrm>
          <a:prstGeom prst="roundRect">
            <a:avLst/>
          </a:prstGeom>
          <a:solidFill>
            <a:srgbClr val="7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229600" y="1824228"/>
            <a:ext cx="228600" cy="237744"/>
          </a:xfrm>
          <a:prstGeom prst="rightArrow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554480"/>
            <a:ext cx="1371600" cy="77724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29800" y="1824228"/>
            <a:ext cx="228600" cy="237744"/>
          </a:xfrm>
          <a:prstGeom prst="rightArrow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0" y="1554480"/>
            <a:ext cx="1371600" cy="777240"/>
          </a:xfrm>
          <a:prstGeom prst="roundRect">
            <a:avLst/>
          </a:prstGeom>
          <a:solidFill>
            <a:srgbClr val="C8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▲ 发起人可在「待填报 / 待确认」阶段编辑或删除协同申请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▲ 一旦进入「审批中」及之后阶段，只能查看，需联系管理员或走驳回流程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▲ 总部条线在「协同确认」接单后，状态由「待确认」变为「已确认」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▲ 项目收尾经「财务确认」分润后，状态变为「已落储」（已完成归档）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六、客户管理 —— 维护客户档案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customer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36085"/>
            <a:ext cx="8321040" cy="4088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234440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① 与协同管理的区别：本板块管「人 / 企业」，协同管理管「事 / 项目」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② 左侧 2 个子功能：我服务的客户★ / 潜在客户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③ 筛选 4 维度：客户名称 / 行业 / 地区 / 类型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④ 列表字段：客户名称 · 行业 · 所在地区 · 类型 · 拜访次数 · 联系人数量 · 协同数量 · 导入时间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⑤ 支持批量「导入」客户数据（Excel 模板）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七、协同学院 —— AI 助手 &amp; 学习中心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25185"/>
            <a:ext cx="8321040" cy="411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234440"/>
            <a:ext cx="3246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① 左侧 6 个子功能：AI协同助手★ / 视频专区 / 培训材料 / 公司产品库 / 法规库 / 案例库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② AI 协同助手 = 专为手拉手业务训练的 ChatGPT 式对话机器人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③ 界面组成：+新建对话 / 对话历史 / 底部输入框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▪ ④ 可问：北交所上市条件？可交债与公司债区别？客户想发债需备哪些材料？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⑤ ⚠ 免责声明：内容由 AI 生成，仅供参考，商业决策请人工核实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八、完整工作流：一次协同从 0 到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场景：你是某矿业公司的客户经理，客户提到想发债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566160" cy="1965960"/>
          </a:xfrm>
          <a:prstGeom prst="roundRect">
            <a:avLst/>
          </a:prstGeom>
          <a:solidFill>
            <a:srgbClr val="F7F3F4"/>
          </a:solidFill>
          <a:ln w="1587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1 · 商机挖掘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在「关注的企业」中发现，或用「企业360」搜到；看舆情判断有发债需求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00200"/>
            <a:ext cx="3566160" cy="1965960"/>
          </a:xfrm>
          <a:prstGeom prst="roundRect">
            <a:avLst/>
          </a:prstGeom>
          <a:solidFill>
            <a:srgbClr val="F7F3F4"/>
          </a:solidFill>
          <a:ln w="1587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2 · 发起协同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首页「发起协同」或协同管理「+新增」，填业务大类=投行、类型=公司债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00200"/>
            <a:ext cx="3566160" cy="1965960"/>
          </a:xfrm>
          <a:prstGeom prst="roundRect">
            <a:avLst/>
          </a:prstGeom>
          <a:solidFill>
            <a:srgbClr val="F7F3F4"/>
          </a:solidFill>
          <a:ln w="1587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3 · 待确认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状态变「待确认」，等总部投行接单；可随时编辑 / 新增拜访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58768"/>
            <a:ext cx="3566160" cy="1965960"/>
          </a:xfrm>
          <a:prstGeom prst="roundRect">
            <a:avLst/>
          </a:prstGeom>
          <a:solidFill>
            <a:srgbClr val="F7F3F4"/>
          </a:solidFill>
          <a:ln w="1587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4 · 总部接单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对方在「我对接的」点「协同确认」→ 状态变「已确认」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858768"/>
            <a:ext cx="3566160" cy="1965960"/>
          </a:xfrm>
          <a:prstGeom prst="roundRect">
            <a:avLst/>
          </a:prstGeom>
          <a:solidFill>
            <a:srgbClr val="F7F3F4"/>
          </a:solidFill>
          <a:ln w="1587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5 · 执行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双方用拜访记录沟通，必要时问 AI 协同助手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858768"/>
            <a:ext cx="3566160" cy="1965960"/>
          </a:xfrm>
          <a:prstGeom prst="roundRect">
            <a:avLst/>
          </a:prstGeom>
          <a:solidFill>
            <a:srgbClr val="F7F3F4"/>
          </a:solidFill>
          <a:ln w="1587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6 · 收尾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财务确认分润 → 状态「已落储」，全程结束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九、常见问题 FAQ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C8A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Q：可以和同事同时编辑同一协同吗？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A：可同时查看；同一字段建议不要同时改，关键节点有状态锁防冲突。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Q：发起协同后能撤回吗？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A：「待填报 / 待确认」阶段可点「删除」撤回；进入「审批中」后需走驳回流程。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Q：AI 回答能直接给客户看吗？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A：不建议。AI 仅供参考，给客户的承诺须内部确认。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Q：商机广场的线索谁发的？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A：通常总部产品经理 / 营业部负责人发布（出售控制权、标的出售等）。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▪ Q：拜访记录在哪看？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  <a:latin typeface="Microsoft YaHei"/>
                <a:ea typeface="Microsoft YaHei"/>
                <a:cs typeface="Microsoft YaHei"/>
              </a:rPr>
              <a:t>– A：① 商机挖掘→拜访记录（全部）；② 协同管理→某协同「新增拜访」（仅该协同）。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35463" y="246888"/>
            <a:ext cx="1600200" cy="420624"/>
          </a:xfrm>
          <a:prstGeom prst="roundRect">
            <a:avLst/>
          </a:prstGeom>
          <a:solidFill>
            <a:srgbClr val="C810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长城证券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C8A02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首页看全局 · 商机挖客户 · 协同管流程 · 客户管档案 · 学院问问题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核心闭环：发现 → 发起协同 → 总部接单 → 共同服务 → 分润结算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内测版功能可能随版本调整，以实际系统为准，欢迎向产品团队反馈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本课件基于 UAT 环境截图编写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手拉手协同系统 · 新人培训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463040" cy="347472"/>
          </a:xfrm>
          <a:prstGeom prst="rect">
            <a:avLst/>
          </a:prstGeom>
          <a:noFill/>
        </p:spPr>
        <p:txBody>
          <a:bodyPr wrap="none" tIns="18288" rIns="18288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