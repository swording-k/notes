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84" r:id="rId4"/>
    <p:sldId id="257" r:id="rId5"/>
    <p:sldId id="258" r:id="rId6"/>
    <p:sldId id="259" r:id="rId7"/>
    <p:sldId id="261" r:id="rId8"/>
    <p:sldId id="265" r:id="rId9"/>
    <p:sldId id="264" r:id="rId10"/>
    <p:sldId id="281" r:id="rId11"/>
    <p:sldId id="268" r:id="rId12"/>
    <p:sldId id="270" r:id="rId13"/>
    <p:sldId id="287" r:id="rId14"/>
    <p:sldId id="271" r:id="rId15"/>
    <p:sldId id="276" r:id="rId16"/>
    <p:sldId id="283" r:id="rId17"/>
    <p:sldId id="273" r:id="rId18"/>
    <p:sldId id="274" r:id="rId19"/>
    <p:sldId id="282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1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商机广场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3474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altLang="en-US" sz="26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商机生命周期</a:t>
            </a:r>
            <a:endParaRPr sz="2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338328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长城长 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20640" y="237744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产品使用文档</a:t>
            </a:r>
            <a:r>
              <a:rPr lang="en-US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商机生命周期</a:t>
            </a:r>
            <a:endParaRPr lang="zh-CN" altLang="en-US"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20640" y="283464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2026 年 7 月</a:t>
            </a:r>
            <a:endParaRPr sz="14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20640" y="320040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商机广场 · 手机端</a:t>
            </a:r>
            <a:endParaRPr sz="12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789920" y="6035040"/>
            <a:ext cx="914400" cy="73152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525" y="127000"/>
            <a:ext cx="3920490" cy="84709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2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使用角色，流程概</a:t>
            </a:r>
            <a:r>
              <a:rPr lang="zh-CN" sz="2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况介绍</a:t>
            </a:r>
            <a:endParaRPr lang="zh-CN" sz="2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955" y="772795"/>
            <a:ext cx="4368165" cy="702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使用角色包括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商机</a:t>
            </a:r>
            <a:r>
              <a:rPr lang="zh-CN" altLang="en-US">
                <a:solidFill>
                  <a:schemeClr val="bg1"/>
                </a:solidFill>
              </a:rPr>
              <a:t>提报人</a:t>
            </a:r>
            <a:r>
              <a:rPr lang="en-US" altLang="zh-CN">
                <a:solidFill>
                  <a:schemeClr val="bg1"/>
                </a:solidFill>
              </a:rPr>
              <a:t>,</a:t>
            </a:r>
            <a:r>
              <a:rPr lang="zh-CN" altLang="en-US">
                <a:solidFill>
                  <a:schemeClr val="bg1"/>
                </a:solidFill>
              </a:rPr>
              <a:t>商机</a:t>
            </a:r>
            <a:r>
              <a:rPr lang="zh-CN" altLang="en-US">
                <a:solidFill>
                  <a:schemeClr val="bg1"/>
                </a:solidFill>
              </a:rPr>
              <a:t>认领人</a:t>
            </a:r>
            <a:r>
              <a:rPr lang="en-US" altLang="zh-CN">
                <a:solidFill>
                  <a:schemeClr val="bg1"/>
                </a:solidFill>
              </a:rPr>
              <a:t>,</a:t>
            </a:r>
            <a:r>
              <a:rPr lang="zh-CN" altLang="en-US">
                <a:solidFill>
                  <a:schemeClr val="bg1"/>
                </a:solidFill>
              </a:rPr>
              <a:t>商机审核员。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620" y="1722120"/>
            <a:ext cx="40805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一条商机的</a:t>
            </a:r>
            <a:r>
              <a:rPr lang="zh-CN" altLang="en-US"/>
              <a:t>生命周期大致包括：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商机</a:t>
            </a:r>
            <a:r>
              <a:rPr lang="zh-CN" altLang="en-US"/>
              <a:t>提报人</a:t>
            </a:r>
            <a:r>
              <a:rPr lang="en-US" altLang="zh-CN"/>
              <a:t> A </a:t>
            </a:r>
            <a:r>
              <a:rPr lang="zh-CN" altLang="en-US"/>
              <a:t>发布商机；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审核员审核商机；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商机</a:t>
            </a:r>
            <a:r>
              <a:rPr lang="zh-CN" altLang="en-US"/>
              <a:t>认领人</a:t>
            </a:r>
            <a:r>
              <a:rPr lang="en-US" altLang="zh-CN"/>
              <a:t> B </a:t>
            </a:r>
            <a:r>
              <a:rPr lang="zh-CN" altLang="en-US"/>
              <a:t>申请对接；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成功撮合商机。</a:t>
            </a:r>
            <a:endParaRPr lang="zh-CN" altLang="en-US"/>
          </a:p>
        </p:txBody>
      </p:sp>
      <p:pic>
        <p:nvPicPr>
          <p:cNvPr id="7" name="图片 6" descr="8c348f1c-e305-4a6f-8d9e-ef4dc111b4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3580" y="1057275"/>
            <a:ext cx="2597785" cy="5633085"/>
          </a:xfrm>
          <a:prstGeom prst="rect">
            <a:avLst/>
          </a:prstGeom>
        </p:spPr>
      </p:pic>
      <p:pic>
        <p:nvPicPr>
          <p:cNvPr id="8" name="图片 7" descr="ebb81bed-11b9-4437-8d69-6ae7e4e9e21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5" y="1057275"/>
            <a:ext cx="2622550" cy="5687695"/>
          </a:xfrm>
          <a:prstGeom prst="rect">
            <a:avLst/>
          </a:prstGeom>
        </p:spPr>
      </p:pic>
      <p:pic>
        <p:nvPicPr>
          <p:cNvPr id="9" name="图片 8" descr="3a4b8d24-d2b8-4ef0-9078-e21c5b71d7b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083310"/>
            <a:ext cx="2611755" cy="56616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36525" y="3447415"/>
            <a:ext cx="40786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用户可以从长城长</a:t>
            </a:r>
            <a:r>
              <a:rPr lang="en-US" altLang="zh-CN"/>
              <a:t>--&gt;</a:t>
            </a:r>
            <a:r>
              <a:rPr lang="zh-CN" altLang="en-US"/>
              <a:t>工作台中进入商机广场（图</a:t>
            </a:r>
            <a:r>
              <a:rPr lang="en-US" altLang="zh-CN"/>
              <a:t>1</a:t>
            </a:r>
            <a:r>
              <a:rPr lang="zh-CN" altLang="en-US"/>
              <a:t>），主要页面有商机广场首页以及</a:t>
            </a:r>
            <a:r>
              <a:rPr lang="en-US" altLang="zh-CN"/>
              <a:t>“</a:t>
            </a:r>
            <a:r>
              <a:rPr lang="zh-CN" altLang="en-US"/>
              <a:t>我的</a:t>
            </a:r>
            <a:r>
              <a:rPr lang="en-US" altLang="zh-CN"/>
              <a:t>”</a:t>
            </a:r>
            <a:r>
              <a:rPr lang="zh-CN" altLang="en-US"/>
              <a:t>，用户可筛选与浏览首页的全部商机（图</a:t>
            </a:r>
            <a:r>
              <a:rPr lang="en-US" altLang="zh-CN"/>
              <a:t>2</a:t>
            </a:r>
            <a:r>
              <a:rPr lang="zh-CN" altLang="en-US"/>
              <a:t>），在我的页面中可以看到自己的成就面板，以及发布与对接的相关商机信息（图</a:t>
            </a:r>
            <a:r>
              <a:rPr lang="en-US" altLang="zh-CN"/>
              <a:t>3</a:t>
            </a:r>
            <a:r>
              <a:rPr lang="zh-CN" altLang="en-US"/>
              <a:t>）。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28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731520" y="1645920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一</a:t>
            </a:r>
            <a:endParaRPr sz="30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1645920" y="169164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商机发布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645920" y="21488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altLang="en-US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商机</a:t>
            </a:r>
            <a:r>
              <a:rPr lang="zh-CN" altLang="en-US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提报人</a:t>
            </a:r>
            <a:r>
              <a:rPr lang="en-US" altLang="zh-CN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发布一条完整商机所需填写的信息与提交流程</a:t>
            </a:r>
            <a:endParaRPr sz="12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731520" y="2788920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二</a:t>
            </a:r>
            <a:endParaRPr sz="30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1645920" y="2834639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接受</a:t>
            </a:r>
            <a:r>
              <a:rPr lang="zh-CN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审核</a:t>
            </a:r>
            <a:endParaRPr lang="zh-CN"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1645920" y="3291839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管理员审核商机并发布到</a:t>
            </a:r>
            <a:r>
              <a:rPr lang="zh-CN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商机广场</a:t>
            </a:r>
            <a:endParaRPr lang="zh-CN" sz="12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731520" y="3931920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三</a:t>
            </a:r>
            <a:endParaRPr sz="30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1645920" y="3977639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对接商机</a:t>
            </a:r>
            <a:endParaRPr lang="zh-CN" altLang="en-US"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1645920" y="44348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员工</a:t>
            </a:r>
            <a:r>
              <a:rPr lang="en-US" altLang="zh-CN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在商机广场浏览商机并选择</a:t>
            </a:r>
            <a:r>
              <a:rPr lang="zh-CN" altLang="en-US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认领</a:t>
            </a:r>
            <a:endParaRPr lang="zh-CN" altLang="en-US" sz="12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731520" y="5074920"/>
            <a:ext cx="914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四</a:t>
            </a:r>
            <a:endParaRPr sz="30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1645920" y="512064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altLang="en-US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成功</a:t>
            </a:r>
            <a:r>
              <a:rPr lang="zh-CN" altLang="en-US"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撮合</a:t>
            </a:r>
            <a:endParaRPr lang="zh-CN" altLang="en-US"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1645920" y="55778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AB</a:t>
            </a:r>
            <a:r>
              <a:rPr lang="zh-CN" altLang="en-US"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双方进行线下洽谈并确认撮合。</a:t>
            </a:r>
            <a:endParaRPr lang="zh-CN" altLang="en-US" sz="12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一</a:t>
            </a:r>
            <a:endParaRPr sz="7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0" y="22860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商机发布</a:t>
            </a:r>
            <a:endParaRPr sz="3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3108960"/>
            <a:ext cx="3200400" cy="457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291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发布一条完整商机所需填写的信息与提交流程</a:t>
            </a:r>
            <a:endParaRPr sz="14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一、商机发布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1</a:t>
            </a:r>
            <a:endParaRPr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2440940"/>
            <a:ext cx="3749040" cy="3538855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/>
          <a:p>
            <a:pPr algn="l"/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提报人进入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长城长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中的商机广场，点击中间的红色加号，进入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商机填报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页面。</a:t>
            </a:r>
            <a:endParaRPr lang="zh-CN" alt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该页面是商机广场的主页面，可以看到商机广场的统计信息，并且进行筛选。</a:t>
            </a:r>
            <a:endParaRPr lang="zh-CN" alt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4836" y="347472"/>
            <a:ext cx="2961046" cy="61630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564" y="457200"/>
            <a:ext cx="274159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685" y="9144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一、商机发布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271145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850" y="684530"/>
            <a:ext cx="2443480" cy="15824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需要在商机概况中选择对应的商机类型、填写商机标题以及选择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有效期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（有效期前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天会进行提醒，有效期满后系统会将商机自动下架，该将不能被申请对接。）。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1878965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 sz="1100" b="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0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30" y="2058670"/>
            <a:ext cx="2213610" cy="4799330"/>
          </a:xfrm>
          <a:prstGeom prst="rect">
            <a:avLst/>
          </a:prstGeom>
        </p:spPr>
      </p:pic>
      <p:pic>
        <p:nvPicPr>
          <p:cNvPr id="12" name="Picture 9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930" y="1737360"/>
            <a:ext cx="2155190" cy="4674870"/>
          </a:xfrm>
          <a:prstGeom prst="rect">
            <a:avLst/>
          </a:prstGeom>
        </p:spPr>
      </p:pic>
      <p:pic>
        <p:nvPicPr>
          <p:cNvPr id="13" name="Picture 9" descr="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085" y="1727835"/>
            <a:ext cx="2115820" cy="4586605"/>
          </a:xfrm>
          <a:prstGeom prst="rect">
            <a:avLst/>
          </a:prstGeom>
        </p:spPr>
      </p:pic>
      <p:pic>
        <p:nvPicPr>
          <p:cNvPr id="14" name="Picture 9" descr="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905" y="1737360"/>
            <a:ext cx="2128520" cy="4616450"/>
          </a:xfrm>
          <a:prstGeom prst="rect">
            <a:avLst/>
          </a:prstGeom>
        </p:spPr>
      </p:pic>
      <p:sp>
        <p:nvSpPr>
          <p:cNvPr id="15" name="Rectangle 6"/>
          <p:cNvSpPr/>
          <p:nvPr/>
        </p:nvSpPr>
        <p:spPr>
          <a:xfrm>
            <a:off x="3209290" y="944880"/>
            <a:ext cx="2175510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接下来填写企业信息，包括企业名称、所在地区以及所属行业。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Rectangle 6"/>
          <p:cNvSpPr/>
          <p:nvPr/>
        </p:nvSpPr>
        <p:spPr>
          <a:xfrm>
            <a:off x="5887085" y="594360"/>
            <a:ext cx="2116455" cy="11658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1400">
                <a:solidFill>
                  <a:schemeClr val="tx1"/>
                </a:solidFill>
              </a:rPr>
              <a:t>3.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在详细需求页面中选择意向行业，填写得越详细，获得推荐以及商机撮合成功的概率越高。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17" name="Rectangle 6"/>
          <p:cNvSpPr/>
          <p:nvPr/>
        </p:nvSpPr>
        <p:spPr>
          <a:xfrm>
            <a:off x="8383905" y="570230"/>
            <a:ext cx="2144395" cy="114998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接下来选择渠道关系以及自己的相关信息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（操作者可随时退回上一步修改表单信息）</a:t>
            </a:r>
            <a:endParaRPr lang="zh-CN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一、商机发布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提交成功后，需要等待审核人员处理。审核成功后，才会发布到商机广场，并且会通过长城长消息通知您。（图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已经提交但还没有审核成功的商机将会存在于未发布列表中。（图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被审核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驳回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的商机，需要重新编辑表单，再次进行提交。（图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>
              <a:solidFill>
                <a:schemeClr val="tx1"/>
              </a:solidFill>
            </a:endParaRPr>
          </a:p>
          <a:p>
            <a:pPr algn="l"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0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009015"/>
            <a:ext cx="2293620" cy="4972050"/>
          </a:xfrm>
          <a:prstGeom prst="rect">
            <a:avLst/>
          </a:prstGeom>
        </p:spPr>
      </p:pic>
      <p:pic>
        <p:nvPicPr>
          <p:cNvPr id="12" name="Picture 9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900" y="1009015"/>
            <a:ext cx="2178050" cy="4722495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9647555" y="1009650"/>
            <a:ext cx="2249170" cy="49714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二</a:t>
            </a:r>
            <a:endParaRPr sz="7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0" y="22860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3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接受审核</a:t>
            </a:r>
            <a:endParaRPr sz="3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3108960"/>
            <a:ext cx="3200400" cy="457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291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40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运营管理员审核商机并发布到商机广场</a:t>
            </a:r>
            <a:endParaRPr sz="14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二，接受</a:t>
            </a:r>
            <a:r>
              <a:rPr lang="zh-CN"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审核</a:t>
            </a:r>
            <a:endParaRPr lang="zh-CN"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后台审核人员将会看到审核通知。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730" y="457200"/>
            <a:ext cx="2742028" cy="5943600"/>
          </a:xfrm>
          <a:prstGeom prst="rect">
            <a:avLst/>
          </a:prstGeom>
        </p:spPr>
      </p:pic>
      <p:pic>
        <p:nvPicPr>
          <p:cNvPr id="12" name="Picture 9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780" y="45720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二，接受审核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9125" y="1795145"/>
            <a:ext cx="3987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审核员将择优选择推荐商机或者驳回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1)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若选择通过，该商机将会上架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商机广场；（图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若选择驳回，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商机提报人将会收到通知，并修改提报表单，重新审核</a:t>
            </a:r>
            <a:r>
              <a:rPr lang="zh-CN">
                <a:solidFill>
                  <a:schemeClr val="tx1"/>
                </a:solidFill>
              </a:rPr>
              <a:t>。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（图2）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0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7855" y="408940"/>
            <a:ext cx="2621915" cy="5683885"/>
          </a:xfrm>
          <a:prstGeom prst="rect">
            <a:avLst/>
          </a:prstGeom>
        </p:spPr>
      </p:pic>
      <p:pic>
        <p:nvPicPr>
          <p:cNvPr id="12" name="Picture 9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895" y="408940"/>
            <a:ext cx="2671445" cy="5792470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7075805" y="408940"/>
            <a:ext cx="2432050" cy="58185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三</a:t>
            </a:r>
            <a:endParaRPr sz="7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0" y="22860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3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zh-CN" altLang="en-US" sz="3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对接商机</a:t>
            </a:r>
            <a:endParaRPr sz="3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3108960"/>
            <a:ext cx="3200400" cy="457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291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40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员工</a:t>
            </a:r>
            <a:r>
              <a:rPr lang="en-US" altLang="zh-CN" sz="140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zh-CN" altLang="en-US" sz="140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在商机广场浏览商机并选择</a:t>
            </a:r>
            <a:r>
              <a:rPr lang="zh-CN" altLang="en-US" sz="140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认领</a:t>
            </a:r>
            <a:endParaRPr lang="zh-CN" altLang="en-US" sz="140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</a:t>
            </a:r>
            <a:r>
              <a:rPr lang="en-US"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zh-CN" altLang="en-US"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对接商机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2440940"/>
            <a:ext cx="3749040" cy="3538855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/>
          <a:p>
            <a:pPr algn="l"/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认领人进入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长城长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中的商机广场主页面，可以看到商机广场的统计信息，并且进行筛选。</a:t>
            </a:r>
            <a:endParaRPr lang="zh-CN" alt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可点击商机查看详情，也可分享给同事，或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收藏</a:t>
            </a:r>
            <a:endParaRPr lang="zh-CN" alt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4836" y="347472"/>
            <a:ext cx="2961046" cy="61630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564" y="457200"/>
            <a:ext cx="274159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en-US"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1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对接商机</a:t>
            </a:r>
            <a:endParaRPr lang="zh-CN" altLang="en-US"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企业员工都可作为商机认领人，将会在商机广场中看到该商机（部分信息已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脱敏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），并选择对接申请，需要填写申请理由。（图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对接申请提交后，将等待商机提报人处理。商机流转到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我的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页面，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我对接的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”--&gt;“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待处理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当商机提报人同意对接之后，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商机认领人将会可以商机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完整信息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，对接申请中的状态变为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已同意对接，请及时联系发布人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。需要及时联系商机提报人进行线下洽谈。（图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Picture 9" descr="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534035"/>
            <a:ext cx="2295525" cy="5053965"/>
          </a:xfrm>
          <a:prstGeom prst="rect">
            <a:avLst/>
          </a:prstGeom>
        </p:spPr>
      </p:pic>
      <p:pic>
        <p:nvPicPr>
          <p:cNvPr id="14" name="Picture 9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565" y="548640"/>
            <a:ext cx="2400300" cy="5020945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3"/>
          <a:stretch>
            <a:fillRect/>
          </a:stretch>
        </p:blipFill>
        <p:spPr>
          <a:xfrm>
            <a:off x="9587865" y="534035"/>
            <a:ext cx="2326005" cy="5008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四</a:t>
            </a:r>
            <a:endParaRPr sz="7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0" y="22860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altLang="en-US" sz="3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成功撮合</a:t>
            </a:r>
            <a:endParaRPr sz="3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0" y="3108960"/>
            <a:ext cx="3200400" cy="457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291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AB</a:t>
            </a:r>
            <a:r>
              <a:rPr lang="zh-CN" altLang="en-US" sz="140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双方进行线下洽谈并确认撮合。</a:t>
            </a:r>
            <a:endParaRPr sz="14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四、</a:t>
            </a:r>
            <a:r>
              <a:rPr lang="zh-CN"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成功撮合</a:t>
            </a:r>
            <a:endParaRPr lang="zh-CN"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提报人将在通知中看到新的对接申请，点击进入后可同意对接。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4617" y="347472"/>
            <a:ext cx="2961484" cy="61630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345" y="45720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成功撮合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提报人可在商机详情中看到对接申请，同意后，双方将进行线下洽谈。选择同意后可确认撮合。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0290" y="502920"/>
            <a:ext cx="2742028" cy="5943600"/>
          </a:xfrm>
          <a:prstGeom prst="rect">
            <a:avLst/>
          </a:prstGeom>
        </p:spPr>
      </p:pic>
      <p:pic>
        <p:nvPicPr>
          <p:cNvPr id="13" name="Picture 9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125" y="50292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成功撮合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3188335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最终确认撮合后，该商业机会的状态将显示为撮合成功。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5525" y="389255"/>
            <a:ext cx="2742028" cy="5943600"/>
          </a:xfrm>
          <a:prstGeom prst="rect">
            <a:avLst/>
          </a:prstGeom>
        </p:spPr>
      </p:pic>
      <p:pic>
        <p:nvPicPr>
          <p:cNvPr id="12" name="Picture 9" descr="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455" y="389255"/>
            <a:ext cx="2742028" cy="5943600"/>
          </a:xfrm>
          <a:prstGeom prst="rect">
            <a:avLst/>
          </a:prstGeom>
        </p:spPr>
      </p:pic>
      <p:pic>
        <p:nvPicPr>
          <p:cNvPr id="13" name="Picture 9" descr="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865" y="389255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商机广场操作全流程介绍</a:t>
            </a:r>
            <a:endParaRPr sz="28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— 完 —</a:t>
            </a:r>
            <a:endParaRPr sz="16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94960" y="4114800"/>
            <a:ext cx="1371600" cy="457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长城长平台</a:t>
            </a:r>
            <a:endParaRPr sz="12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2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3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4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5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6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7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8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9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10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11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ags/tag12.xml><?xml version="1.0" encoding="utf-8"?>
<p:tagLst xmlns:p="http://schemas.openxmlformats.org/presentationml/2006/main">
  <p:tag name="KSO_WM_DIAGRAM_VIRTUALLY_FRAME" val="{&quot;height&quot;:338.4,&quot;left&quot;:57.6,&quot;top&quot;:129.6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1431</Words>
  <Application>WPS 演示</Application>
  <PresentationFormat>On-screen Show (4:3)</PresentationFormat>
  <Paragraphs>184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杨锟</cp:lastModifiedBy>
  <cp:revision>8</cp:revision>
  <dcterms:created xsi:type="dcterms:W3CDTF">2013-01-27T09:14:00Z</dcterms:created>
  <dcterms:modified xsi:type="dcterms:W3CDTF">2026-07-16T01:52:00Z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2052-12.1.0.26899</vt:lpwstr>
  </property>
  <property fmtid="{D5CDD505-2E9C-101B-9397-08002B2CF9AE}" pid="3" name="ICV">
    <vt:lpwstr>05E79DA0A8A740169503A77155569928_13</vt:lpwstr>
  </property>
</Properties>
</file>