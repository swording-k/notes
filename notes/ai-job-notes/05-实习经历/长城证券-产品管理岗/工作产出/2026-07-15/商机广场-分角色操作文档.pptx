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4" r:id="rId3"/>
    <p:sldId id="257" r:id="rId4"/>
    <p:sldId id="258" r:id="rId5"/>
    <p:sldId id="275" r:id="rId6"/>
    <p:sldId id="276" r:id="rId7"/>
    <p:sldId id="277" r:id="rId8"/>
    <p:sldId id="278" r:id="rId9"/>
    <p:sldId id="279" r:id="rId10"/>
    <p:sldId id="263" r:id="rId11"/>
    <p:sldId id="281" r:id="rId12"/>
    <p:sldId id="280" r:id="rId13"/>
    <p:sldId id="268" r:id="rId14"/>
    <p:sldId id="282" r:id="rId15"/>
    <p:sldId id="283" r:id="rId16"/>
    <p:sldId id="273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商机广场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3474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2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</a:t>
            </a:r>
            <a:r>
              <a:rPr lang="zh-CN" sz="2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操作手册</a:t>
            </a:r>
            <a:endParaRPr lang="zh-CN" sz="2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338328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长城长 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37455" y="1998345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产品使用文档</a:t>
            </a:r>
            <a:r>
              <a:rPr lang="en-US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用户</a:t>
            </a:r>
            <a:r>
              <a:rPr lang="zh-CN" altLang="en-US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操作手册</a:t>
            </a:r>
            <a:endParaRPr lang="zh-CN" altLang="en-US"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37455" y="347472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2026 年 7 月</a:t>
            </a:r>
            <a:endParaRPr sz="14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12715" y="402336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商机广场 · 手机端</a:t>
            </a:r>
            <a:endParaRPr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789920" y="6035040"/>
            <a:ext cx="914400" cy="73152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本框 10"/>
          <p:cNvSpPr txBox="1"/>
          <p:nvPr/>
        </p:nvSpPr>
        <p:spPr>
          <a:xfrm>
            <a:off x="5134610" y="2455545"/>
            <a:ext cx="42703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该操作手册旨在指导用户上手该系统，用户可结合自己的使用目的选择部分进行</a:t>
            </a:r>
            <a:r>
              <a:rPr lang="zh-CN" altLang="en-US"/>
              <a:t>学习查看。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0570" y="432435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8102E"/>
                </a:solidFill>
                <a:latin typeface="微软雅黑" panose="020B0503020204020204" charset="-122"/>
              </a:rPr>
              <a:t>目录</a:t>
            </a:r>
            <a:endParaRPr sz="3200" b="1">
              <a:solidFill>
                <a:srgbClr val="C8102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914400" y="192024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微软雅黑" panose="020B0503020204020204" charset="-122"/>
              </a:rPr>
              <a:t>1</a:t>
            </a:r>
            <a:endParaRPr sz="2800" b="1">
              <a:solidFill>
                <a:srgbClr val="C8102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737360" y="1920240"/>
            <a:ext cx="822960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33333"/>
                </a:solidFill>
                <a:latin typeface="微软雅黑" panose="020B0503020204020204" charset="-122"/>
              </a:rPr>
              <a:t>商机</a:t>
            </a:r>
            <a:r>
              <a:rPr lang="zh-CN" sz="2400" b="1">
                <a:solidFill>
                  <a:srgbClr val="333333"/>
                </a:solidFill>
                <a:latin typeface="微软雅黑" panose="020B0503020204020204" charset="-122"/>
              </a:rPr>
              <a:t>提报</a:t>
            </a:r>
            <a:r>
              <a:rPr sz="2400" b="1">
                <a:solidFill>
                  <a:srgbClr val="333333"/>
                </a:solidFill>
                <a:latin typeface="微软雅黑" panose="020B0503020204020204" charset="-122"/>
              </a:rPr>
              <a:t>人</a:t>
            </a:r>
            <a:endParaRPr sz="24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914400" y="288036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微软雅黑" panose="020B0503020204020204" charset="-122"/>
              </a:rPr>
              <a:t>2</a:t>
            </a:r>
            <a:endParaRPr sz="2800" b="1">
              <a:solidFill>
                <a:srgbClr val="C8102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737360" y="2880360"/>
            <a:ext cx="822960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sz="2400" b="1">
                <a:solidFill>
                  <a:srgbClr val="333333"/>
                </a:solidFill>
                <a:latin typeface="微软雅黑" panose="020B0503020204020204" charset="-122"/>
              </a:rPr>
              <a:t>商机认领</a:t>
            </a:r>
            <a:r>
              <a:rPr sz="2400" b="1">
                <a:solidFill>
                  <a:srgbClr val="333333"/>
                </a:solidFill>
                <a:latin typeface="微软雅黑" panose="020B0503020204020204" charset="-122"/>
              </a:rPr>
              <a:t>人</a:t>
            </a:r>
            <a:endParaRPr sz="24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914400" y="3840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微软雅黑" panose="020B0503020204020204" charset="-122"/>
              </a:rPr>
              <a:t>3</a:t>
            </a:r>
            <a:endParaRPr sz="2800" b="1">
              <a:solidFill>
                <a:srgbClr val="C8102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737360" y="384048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33333"/>
                </a:solidFill>
                <a:latin typeface="微软雅黑" panose="020B0503020204020204" charset="-122"/>
              </a:rPr>
              <a:t>审核员</a:t>
            </a:r>
            <a:endParaRPr sz="24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00430" y="1179830"/>
            <a:ext cx="7927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普通用户既可以作为商机发起人，也可以作为商机对接人。</a:t>
            </a:r>
            <a:endParaRPr lang="zh-CN" altLang="en-US"/>
          </a:p>
          <a:p>
            <a:r>
              <a:rPr lang="zh-CN" altLang="en-US"/>
              <a:t>用户可结合自己的使用角色来选择查看操作手册。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706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sz="4000" b="1">
                <a:solidFill>
                  <a:srgbClr val="FFFFFF"/>
                </a:solidFill>
                <a:latin typeface="微软雅黑" panose="020B0503020204020204" charset="-122"/>
              </a:rPr>
              <a:t>一</a:t>
            </a:r>
            <a:r>
              <a:rPr lang="en-US" altLang="zh-CN" sz="4000" b="1">
                <a:solidFill>
                  <a:srgbClr val="FFFFFF"/>
                </a:solidFill>
                <a:latin typeface="微软雅黑" panose="020B0503020204020204" charset="-122"/>
              </a:rPr>
              <a:t>.</a:t>
            </a: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商机</a:t>
            </a:r>
            <a:r>
              <a:rPr lang="zh-CN" sz="4000" b="1">
                <a:solidFill>
                  <a:srgbClr val="FFFFFF"/>
                </a:solidFill>
                <a:latin typeface="微软雅黑" panose="020B0503020204020204" charset="-122"/>
              </a:rPr>
              <a:t>提报</a:t>
            </a: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人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66160"/>
            <a:ext cx="9601200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发现并购重组需求、在商机广场发布商机的业务人员。负责填写商机信息、跟踪自己发布商机的状态（已发布 / 审核中 / 驳回 / 已下架）</a:t>
            </a:r>
            <a:r>
              <a:rPr lang="zh-CN" sz="1800" b="0">
                <a:solidFill>
                  <a:srgbClr val="FFFFFF"/>
                </a:solidFill>
                <a:latin typeface="微软雅黑" panose="020B0503020204020204" charset="-122"/>
              </a:rPr>
              <a:t>，有人申领</a:t>
            </a:r>
            <a:r>
              <a:rPr lang="zh-CN" sz="1800" b="0">
                <a:solidFill>
                  <a:srgbClr val="FFFFFF"/>
                </a:solidFill>
                <a:latin typeface="微软雅黑" panose="020B0503020204020204" charset="-122"/>
              </a:rPr>
              <a:t>后，</a:t>
            </a:r>
            <a:r>
              <a:rPr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确认撮合，完成商机流转。</a:t>
            </a:r>
            <a:endParaRPr sz="1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商机提报人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1</a:t>
            </a:r>
            <a:endParaRPr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2440940"/>
            <a:ext cx="3749040" cy="3538855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l"/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endParaRPr lang="en-US" altLang="zh-CN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该页面是商机广场的主页面。</a:t>
            </a:r>
            <a:endParaRPr lang="en-US" altLang="zh-CN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提报人进入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长城长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中的商机广场，点击中间的红色加号，进入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商机填报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页面。</a:t>
            </a:r>
            <a:endParaRPr lang="zh-CN" alt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endParaRPr lang="zh-CN" alt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4836" y="347472"/>
            <a:ext cx="2961046" cy="61630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564" y="457200"/>
            <a:ext cx="274159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一、</a:t>
            </a:r>
            <a:r>
              <a:rPr lang="zh-CN"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商机</a:t>
            </a:r>
            <a:r>
              <a:rPr lang="zh-CN"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提报人</a:t>
            </a:r>
            <a:endParaRPr lang="zh-CN"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79095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850" y="744855"/>
            <a:ext cx="2453005" cy="164782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需要在商机概况中选择对应的商机类型、填写商机标题以及选择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有效期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（有效期前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天会进行提醒，有效期满后系统会将商机自动下架，该将不能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被申请对接。）。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2640" y="196596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 sz="1100" b="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0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640" y="2124710"/>
            <a:ext cx="2065020" cy="4478020"/>
          </a:xfrm>
          <a:prstGeom prst="rect">
            <a:avLst/>
          </a:prstGeom>
        </p:spPr>
      </p:pic>
      <p:pic>
        <p:nvPicPr>
          <p:cNvPr id="12" name="Picture 9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125" y="1965960"/>
            <a:ext cx="2155190" cy="4674870"/>
          </a:xfrm>
          <a:prstGeom prst="rect">
            <a:avLst/>
          </a:prstGeom>
        </p:spPr>
      </p:pic>
      <p:pic>
        <p:nvPicPr>
          <p:cNvPr id="13" name="Picture 9" descr="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385" y="2124710"/>
            <a:ext cx="2115820" cy="4586605"/>
          </a:xfrm>
          <a:prstGeom prst="rect">
            <a:avLst/>
          </a:prstGeom>
        </p:spPr>
      </p:pic>
      <p:pic>
        <p:nvPicPr>
          <p:cNvPr id="14" name="Picture 9" descr="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780" y="2094865"/>
            <a:ext cx="2128520" cy="4616450"/>
          </a:xfrm>
          <a:prstGeom prst="rect">
            <a:avLst/>
          </a:prstGeom>
        </p:spPr>
      </p:pic>
      <p:sp>
        <p:nvSpPr>
          <p:cNvPr id="15" name="Rectangle 6"/>
          <p:cNvSpPr/>
          <p:nvPr/>
        </p:nvSpPr>
        <p:spPr>
          <a:xfrm>
            <a:off x="3159125" y="744855"/>
            <a:ext cx="2167255" cy="1242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接下来填写企业信息，包括企业名称、所在地区以及所属行业。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Rectangle 6"/>
          <p:cNvSpPr/>
          <p:nvPr/>
        </p:nvSpPr>
        <p:spPr>
          <a:xfrm>
            <a:off x="5747385" y="730885"/>
            <a:ext cx="2116455" cy="1394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1400">
                <a:solidFill>
                  <a:schemeClr val="tx1"/>
                </a:solidFill>
              </a:rPr>
              <a:t>3.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在详细需求页面中选择意向行业，填写得越详细，获得推荐以及商机撮合成功的概率越高。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17" name="Rectangle 6"/>
          <p:cNvSpPr/>
          <p:nvPr/>
        </p:nvSpPr>
        <p:spPr>
          <a:xfrm>
            <a:off x="8399780" y="730885"/>
            <a:ext cx="2136775" cy="136461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接下来选择渠道关系以及自己的相关信息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（操作者可随时退回上一步修改表单信息）</a:t>
            </a:r>
            <a:endParaRPr lang="zh-CN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商机提报人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提交成功后，需要等待审核人员处理。审核成功后，才会发布到商机广场，并且会通过长城长消息通知您。（图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已经提交但还没有审核成功的商机将会存在于未发布列表中。（图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被审核驳回的商机，需要重新编辑表单，再次进行提交。（图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直到审核成功后将会流转到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已发布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”--&gt;”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发布中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并上架商机广场</a:t>
            </a:r>
            <a:endParaRPr lang="zh-CN">
              <a:solidFill>
                <a:schemeClr val="tx1"/>
              </a:solidFill>
            </a:endParaRPr>
          </a:p>
          <a:p>
            <a:pPr algn="l"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0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009015"/>
            <a:ext cx="2293620" cy="4972050"/>
          </a:xfrm>
          <a:prstGeom prst="rect">
            <a:avLst/>
          </a:prstGeom>
        </p:spPr>
      </p:pic>
      <p:pic>
        <p:nvPicPr>
          <p:cNvPr id="12" name="Picture 9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900" y="1009015"/>
            <a:ext cx="2178050" cy="4722495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9647555" y="1009650"/>
            <a:ext cx="2249170" cy="49714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商机提报人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当有其他人在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商机广场发起申领时。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商机提报人可在商机详情中看到对接申请，同意后（图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），双方将进行线下洽谈。选择同意后可确认撮合。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0290" y="502920"/>
            <a:ext cx="2742028" cy="5943600"/>
          </a:xfrm>
          <a:prstGeom prst="rect">
            <a:avLst/>
          </a:prstGeom>
        </p:spPr>
      </p:pic>
      <p:pic>
        <p:nvPicPr>
          <p:cNvPr id="13" name="Picture 9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125" y="50292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商机提报人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188335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最终选择一个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对接申请确认撮合后，该商业机会的状态将显示为撮合成功。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并流转到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已发布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“--&gt;”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已撮合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其他对接申请自动置为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匹配失败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5525" y="389255"/>
            <a:ext cx="2742028" cy="5943600"/>
          </a:xfrm>
          <a:prstGeom prst="rect">
            <a:avLst/>
          </a:prstGeom>
        </p:spPr>
      </p:pic>
      <p:pic>
        <p:nvPicPr>
          <p:cNvPr id="12" name="Picture 9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455" y="389255"/>
            <a:ext cx="2742028" cy="5943600"/>
          </a:xfrm>
          <a:prstGeom prst="rect">
            <a:avLst/>
          </a:prstGeom>
        </p:spPr>
      </p:pic>
      <p:pic>
        <p:nvPicPr>
          <p:cNvPr id="13" name="Picture 9" descr="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865" y="389255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706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altLang="zh-CN" sz="4000" b="1">
                <a:solidFill>
                  <a:srgbClr val="FFFFFF"/>
                </a:solidFill>
                <a:latin typeface="微软雅黑" panose="020B0503020204020204" charset="-122"/>
              </a:rPr>
              <a:t>2.</a:t>
            </a:r>
            <a:r>
              <a:rPr lang="zh-CN" sz="4000" b="1">
                <a:solidFill>
                  <a:srgbClr val="FFFFFF"/>
                </a:solidFill>
                <a:latin typeface="微软雅黑" panose="020B0503020204020204" charset="-122"/>
              </a:rPr>
              <a:t>商机</a:t>
            </a:r>
            <a:r>
              <a:rPr lang="zh-CN" sz="4000" b="1">
                <a:solidFill>
                  <a:srgbClr val="FFFFFF"/>
                </a:solidFill>
                <a:latin typeface="微软雅黑" panose="020B0503020204020204" charset="-122"/>
              </a:rPr>
              <a:t>认领</a:t>
            </a: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人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66160"/>
            <a:ext cx="9601200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接收并认领商机的同事（如投行条线）。在首页浏览 / 筛选商机、分享给同事，对意向商机发起「我要对接」并填写理由；</a:t>
            </a:r>
            <a:r>
              <a:rPr lang="zh-CN" sz="1800" b="0">
                <a:solidFill>
                  <a:srgbClr val="FFFFFF"/>
                </a:solidFill>
                <a:latin typeface="微软雅黑" panose="020B0503020204020204" charset="-122"/>
              </a:rPr>
              <a:t>对方同意对接后，及时联系</a:t>
            </a:r>
            <a:r>
              <a:rPr lang="zh-CN" sz="1800" b="0">
                <a:solidFill>
                  <a:srgbClr val="FFFFFF"/>
                </a:solidFill>
                <a:latin typeface="微软雅黑" panose="020B0503020204020204" charset="-122"/>
              </a:rPr>
              <a:t>商机提报人。</a:t>
            </a:r>
            <a:endParaRPr lang="zh-CN" sz="1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商机认领人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1</a:t>
            </a:r>
            <a:endParaRPr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2440940"/>
            <a:ext cx="3749040" cy="3538855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l"/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认领人进入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长城长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中的商机广场主页面，可以看到商机广场的统计信息，并且进行筛选。</a:t>
            </a:r>
            <a:endParaRPr lang="zh-CN" alt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可点击商机查看详情，也可分享给同事，或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收藏</a:t>
            </a:r>
            <a:endParaRPr lang="zh-CN" alt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4836" y="347472"/>
            <a:ext cx="2961046" cy="61630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564" y="457200"/>
            <a:ext cx="274159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认领人</a:t>
            </a:r>
            <a:endParaRPr lang="zh-CN" altLang="en-US"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企业员工都可作为商机认领人，将会在商机广场中看到该商机（部分信息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脱敏处理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），并选择对接申请，需要填写申请理由。（图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对接申请提交后，将等待商机提报人处理。商机流转到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我的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页面，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我对接的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”--&gt;“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待处理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当商机提报人同意对接之后，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商机认领人将会可以商机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完整信息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，对接申请中的状态变为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已同意对接，请及时联系发布人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。需要及时联系商机提报人进行线下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洽谈。（图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534035"/>
            <a:ext cx="2295525" cy="5053965"/>
          </a:xfrm>
          <a:prstGeom prst="rect">
            <a:avLst/>
          </a:prstGeom>
        </p:spPr>
      </p:pic>
      <p:pic>
        <p:nvPicPr>
          <p:cNvPr id="12" name="Picture 9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565" y="548640"/>
            <a:ext cx="2400300" cy="502094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9587865" y="534035"/>
            <a:ext cx="2326005" cy="500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706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  <a:latin typeface="微软雅黑" panose="020B0503020204020204" charset="-122"/>
              </a:rPr>
              <a:t>3.</a:t>
            </a: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审核员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66160"/>
            <a:ext cx="9601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负责审核商机的运营 / 合规人员。收到审核通知后，在详情页对商机「通过」（评级 推荐 / 普通）或「驳回」（填写原因），把控商机质量与合规底线。</a:t>
            </a:r>
            <a:endParaRPr sz="1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三，</a:t>
            </a:r>
            <a:r>
              <a:rPr lang="zh-CN"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审核员</a:t>
            </a:r>
            <a:endParaRPr lang="zh-CN"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后台审核人员将会看到审核通知。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我的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”--&gt;“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我审核的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730" y="457200"/>
            <a:ext cx="2742028" cy="5943600"/>
          </a:xfrm>
          <a:prstGeom prst="rect">
            <a:avLst/>
          </a:prstGeom>
        </p:spPr>
      </p:pic>
      <p:pic>
        <p:nvPicPr>
          <p:cNvPr id="12" name="Picture 9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780" y="45720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三，审核员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9125" y="1795145"/>
            <a:ext cx="3987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审核员将择优选择推荐商机或者驳回（图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若选择通过，该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商机将会上架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商机广场；（图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若选择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驳回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商机提报人将会收到通知，并修改提报表单，重新审核(图2）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" name="Picture 9" descr="0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7855" y="408940"/>
            <a:ext cx="2621915" cy="5683885"/>
          </a:xfrm>
          <a:prstGeom prst="rect">
            <a:avLst/>
          </a:prstGeom>
        </p:spPr>
      </p:pic>
      <p:pic>
        <p:nvPicPr>
          <p:cNvPr id="12" name="Picture 9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895" y="408940"/>
            <a:ext cx="2671445" cy="5792470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7075805" y="408940"/>
            <a:ext cx="2432050" cy="58185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谢谢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8.8,&quot;left&quot;:72,&quot;top&quot;:151.2,&quot;width&quot;:712.8}"/>
</p:tagLst>
</file>

<file path=ppt/tags/tag2.xml><?xml version="1.0" encoding="utf-8"?>
<p:tagLst xmlns:p="http://schemas.openxmlformats.org/presentationml/2006/main">
  <p:tag name="KSO_WM_DIAGRAM_VIRTUALLY_FRAME" val="{&quot;height&quot;:208.8,&quot;left&quot;:72,&quot;top&quot;:151.2,&quot;width&quot;:712.8}"/>
</p:tagLst>
</file>

<file path=ppt/tags/tag3.xml><?xml version="1.0" encoding="utf-8"?>
<p:tagLst xmlns:p="http://schemas.openxmlformats.org/presentationml/2006/main">
  <p:tag name="KSO_WM_DIAGRAM_VIRTUALLY_FRAME" val="{&quot;height&quot;:208.8,&quot;left&quot;:72,&quot;top&quot;:151.2,&quot;width&quot;:712.8}"/>
</p:tagLst>
</file>

<file path=ppt/tags/tag4.xml><?xml version="1.0" encoding="utf-8"?>
<p:tagLst xmlns:p="http://schemas.openxmlformats.org/presentationml/2006/main">
  <p:tag name="KSO_WM_DIAGRAM_VIRTUALLY_FRAME" val="{&quot;height&quot;:208.8,&quot;left&quot;:72,&quot;top&quot;:151.2,&quot;width&quot;:712.8}"/>
</p:tagLst>
</file>

<file path=ppt/tags/tag5.xml><?xml version="1.0" encoding="utf-8"?>
<p:tagLst xmlns:p="http://schemas.openxmlformats.org/presentationml/2006/main">
  <p:tag name="KSO_WM_DIAGRAM_VIRTUALLY_FRAME" val="{&quot;height&quot;:208.8,&quot;left&quot;:72,&quot;top&quot;:151.2,&quot;width&quot;:712.8}"/>
</p:tagLst>
</file>

<file path=ppt/tags/tag6.xml><?xml version="1.0" encoding="utf-8"?>
<p:tagLst xmlns:p="http://schemas.openxmlformats.org/presentationml/2006/main">
  <p:tag name="KSO_WM_DIAGRAM_VIRTUALLY_FRAME" val="{&quot;height&quot;:208.8,&quot;left&quot;:72,&quot;top&quot;:151.2,&quot;width&quot;:712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1432</Words>
  <Application>WPS 演示</Application>
  <PresentationFormat>On-screen Show (4:3)</PresentationFormat>
  <Paragraphs>148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杨锟</cp:lastModifiedBy>
  <cp:revision>7</cp:revision>
  <dcterms:created xsi:type="dcterms:W3CDTF">2013-01-27T09:14:00Z</dcterms:created>
  <dcterms:modified xsi:type="dcterms:W3CDTF">2026-07-16T01:51:52Z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2052-12.1.0.26899</vt:lpwstr>
  </property>
  <property fmtid="{D5CDD505-2E9C-101B-9397-08002B2CF9AE}" pid="3" name="ICV">
    <vt:lpwstr>7859631CF406487C81425C31A21442CA_13</vt:lpwstr>
  </property>
</Properties>
</file>