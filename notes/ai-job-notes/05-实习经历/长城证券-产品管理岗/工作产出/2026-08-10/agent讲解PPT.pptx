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200">
                <a:solidFill>
                  <a:srgbClr val="333333"/>
                </a:solidFill>
                <a:latin typeface="Microsoft YaHei"/>
              </a:rPr>
              <a:t>🗣 讲解口吻（待你填写）：
开场：一句话介绍这个项目——我们让飞书群里的讨论自动变成可追溯的需求池和决策日志，不替代禅道，只补上'聊完即过'那段空白。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200">
                <a:solidFill>
                  <a:srgbClr val="333333"/>
                </a:solidFill>
                <a:latin typeface="Microsoft YaHei"/>
              </a:rPr>
              <a:t>🗣 讲解口吻（待你填写）：
讲痛点时用真实例子：'上次谁定的那个字段改动，过两周没人记得为什么，又来问一遍'——这就是我们要填的洞。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200">
                <a:solidFill>
                  <a:srgbClr val="333333"/>
                </a:solidFill>
                <a:latin typeface="Microsoft YaHei"/>
              </a:rPr>
              <a:t>🗣 讲解口吻（待你填写）：
强调'做加法不做迁移'：禅道/DevOps 习惯一个都不改，我们只在旁边补一层捕获与沉淀。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200">
                <a:solidFill>
                  <a:srgbClr val="333333"/>
                </a:solidFill>
                <a:latin typeface="Microsoft YaHei"/>
              </a:rPr>
              <a:t>🗣 讲解口吻（待你填写）：
架构讲清楚三件事：① Agent 是常驻不是问答机器人；② 三类触发(被@/收敛信号/定时)分工；③ 所有结果落到多维表格，报告发回宝剑群。对外讲解时可隐去 token/chat id。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200">
                <a:solidFill>
                  <a:srgbClr val="333333"/>
                </a:solidFill>
                <a:latin typeface="Microsoft YaHei"/>
              </a:rPr>
              <a:t>🗣 讲解口吻（待你填写）：
重点讲'静默'：早期我们试过全量监听任意消息，太吵，已停用。现在只有被@和收敛信号才触发，打扰最小。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200">
                <a:solidFill>
                  <a:srgbClr val="333333"/>
                </a:solidFill>
                <a:latin typeface="Microsoft YaHei"/>
              </a:rPr>
              <a:t>🗣 讲解口吻（待你填写）：
数据流讲清'一条消息进来后去哪'：分类→落表→定时聚合出报告。6类是 Agent 理解群聊的字典。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200">
                <a:solidFill>
                  <a:srgbClr val="333333"/>
                </a:solidFill>
                <a:latin typeface="Microsoft YaHei"/>
              </a:rPr>
              <a:t>🗣 讲解口吻（待你填写）：
任务表就是 PRD 里的'需求池'：原始一句话永不被覆盖，版本链 v0→v1→v2。决策日志表对应 PRD F4。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200">
                <a:solidFill>
                  <a:srgbClr val="333333"/>
                </a:solidFill>
                <a:latin typeface="Microsoft YaHei"/>
              </a:rPr>
              <a:t>🗣 讲解口吻（待你填写）：
演示时按场景1-3在宝剑群实跑，把飞书截图替换右侧占位框。场景1最直观——5条消息只出1条需求。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200">
                <a:solidFill>
                  <a:srgbClr val="333333"/>
                </a:solidFill>
                <a:latin typeface="Microsoft YaHei"/>
              </a:rPr>
              <a:t>🗣 讲解口吻（待你填写）：
场景4是亮点：Agent 不啰嗦，只回一句决策记录。配置页内部留底，给导师/研发看时可隐去原始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200">
                <a:solidFill>
                  <a:srgbClr val="333333"/>
                </a:solidFill>
                <a:latin typeface="Microsoft YaHei"/>
              </a:rPr>
              <a:t>🗣 讲解口吻（待你填写）：
直接回应'迁移飞书成本收益'的疑问：我们不是替代禅道，是替代'微信私聊定需求→人工通知→手填禅道'那段低价值动作，省的是协调角色的时间。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200">
                <a:solidFill>
                  <a:srgbClr val="333333"/>
                </a:solidFill>
                <a:latin typeface="Microsoft YaHei"/>
              </a:rPr>
              <a:t>🗣 讲解口吻（待你填写）：
讲下一步时锚定'已跑通主链路，待补全的是规划态能力'。多源采集和版本链是近期重点。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r>
              <a:rPr sz="1200">
                <a:solidFill>
                  <a:srgbClr val="333333"/>
                </a:solidFill>
                <a:latin typeface="Microsoft YaHei"/>
              </a:rPr>
              <a:t>🗣 讲解口吻（待你填写）：
收尾一句话：这个 Agent 的价值不是又一个系统，而是让团队的讨论自己变成可追溯的资产。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2011680"/>
            <a:ext cx="9418320" cy="146304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飞书项目管理 Agent</a:t>
            </a:r>
          </a:p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讲解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749039"/>
            <a:ext cx="9418320" cy="82296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0">
                <a:solidFill>
                  <a:srgbClr val="CFE3F3"/>
                </a:solidFill>
                <a:latin typeface="Microsoft YaHei"/>
              </a:rPr>
              <a:t>群聊即项目管理系统：把聊过的需求与决策自动沉淀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937760"/>
            <a:ext cx="9418320" cy="54864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AAC4DD"/>
                </a:solidFill>
                <a:latin typeface="Microsoft YaHei"/>
              </a:rPr>
              <a:t>结构拆解 + Demo 验收 ｜ 杨锟 ｜ 2026-08-10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一、背景与痛点：需求聊完即过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• 现状：需求从微信私聊 / 会议 / 口头产生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555555"/>
                </a:solidFill>
                <a:latin typeface="Microsoft YaHei"/>
              </a:rPr>
              <a:t>    一骢哥与成员私聊定需求，再口头通知周仕兴手工填禅道；群里有发版通知，但'需求怎么定'不在群里。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• 两个环节完全没有留存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555555"/>
                </a:solidFill>
                <a:latin typeface="Microsoft YaHei"/>
              </a:rPr>
              <a:t>    ① 需求产生（微信私聊/会议/口头）② 对聊定（确认方案）——靠人脑记忆，事后难追溯。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• 禅道是执行主数据，不沉淀讨论上下文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555555"/>
                </a:solidFill>
                <a:latin typeface="Microsoft YaHei"/>
              </a:rPr>
              <a:t>    禅道记工时/任务，但不记录'为什么这么定'。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• 微信缺沉淀机制，飞书原生具备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555555"/>
                </a:solidFill>
                <a:latin typeface="Microsoft YaHei"/>
              </a:rPr>
              <a:t>    群消息、妙记（会议录音转写）、多维表格、知识库——可沉淀能力齐全。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• 我们要解决什么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555555"/>
                </a:solidFill>
                <a:latin typeface="Microsoft YaHei"/>
              </a:rPr>
              <a:t>    把工作沟通承载到飞书，让需求与决策背景自动被记录，协调角色从'搬运工'变'审核员'。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二、接入后的全周期工作流（To-Be）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103327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743200"/>
                <a:gridCol w="3657600"/>
                <a:gridCol w="2743200"/>
              </a:tblGrid>
              <a:tr h="6096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团队在做什么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Agent 自动做什么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沉淀的数据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项目启动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建群、拉成员、明确目标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进群、初始化需求池与决策日志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项目空间、空需求池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需求提出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群/私聊/会议提想法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读取消息与妙记，抽取疑似需求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需求池草稿条目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讨论试错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多轮讨论、方案比对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合并同需求多版本、标注未决点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需求池(版本链)、决策日志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决策确认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一骢哥拍板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写决策日志、标记已确认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已确认需求、决策记录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开发排期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周仕兴禅道建卡分配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需求背景同步禅道卡备注(或草稿)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禅道需求卡(衔接)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开发跟踪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成员开发、更新禅道状态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每日/周推送播报、风险预警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群内播报、周报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测试验收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提测、验收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汇总验收结论到决策日志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决策日志(验收)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上线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发布、群内发通知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捕获通知、沉淀复盘、更新状态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Microsoft YaHei"/>
                        </a:rPr>
                        <a:t>状态更新、知识库复盘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三、整体架构（飞书 Aily 平台）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868680"/>
            <a:ext cx="11430000" cy="576072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06240" y="1143000"/>
            <a:ext cx="3749039" cy="914400"/>
          </a:xfrm>
          <a:prstGeom prst="roundRect">
            <a:avLst/>
          </a:prstGeom>
          <a:solidFill>
            <a:srgbClr val="2E6DA4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项目管理 Agent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(Continuous 常驻)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97480"/>
            <a:ext cx="3383280" cy="1417320"/>
          </a:xfrm>
          <a:prstGeom prst="roundRect">
            <a:avLst/>
          </a:prstGeom>
          <a:solidFill>
            <a:srgbClr val="CFE3F3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即时响应层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• 被 @ 响应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• 查/改状态、摘要、帮助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697480"/>
            <a:ext cx="3383280" cy="1417320"/>
          </a:xfrm>
          <a:prstGeom prst="roundRect">
            <a:avLst/>
          </a:prstGeom>
          <a:solidFill>
            <a:srgbClr val="CFE3F3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智能感知层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• 收敛信号检测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• 记录决策/会议(极简1句)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697480"/>
            <a:ext cx="3383280" cy="1417320"/>
          </a:xfrm>
          <a:prstGeom prst="roundRect">
            <a:avLst/>
          </a:prstGeom>
          <a:solidFill>
            <a:srgbClr val="CFE3F3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定时汇总层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• 每日巡检(工作日16:35)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• 每周周报(周五14:43)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617720"/>
            <a:ext cx="7040880" cy="1371600"/>
          </a:xfrm>
          <a:prstGeom prst="roundRect">
            <a:avLst/>
          </a:prstGeom>
          <a:solidFill>
            <a:srgbClr val="E3EFE6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222222"/>
                </a:solidFill>
                <a:latin typeface="Microsoft YaHei"/>
              </a:rPr>
              <a:t>飞书多维表格 (Base)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Microsoft YaHei"/>
              </a:rPr>
              <a:t>项目表 · 任务表 · 决策日志 · 周报表 · 成员表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17720"/>
            <a:ext cx="3383280" cy="1371600"/>
          </a:xfrm>
          <a:prstGeom prst="roundRect">
            <a:avLst/>
          </a:prstGeom>
          <a:solidFill>
            <a:srgbClr val="FBEED9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宝剑群 (oc_xxx)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消息来源 + 投递目标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331720" y="2057400"/>
            <a:ext cx="3749040" cy="64008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989320" y="2057400"/>
            <a:ext cx="91440" cy="64008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2057400"/>
            <a:ext cx="3566160" cy="64008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31720" y="4114800"/>
            <a:ext cx="3657600" cy="50292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89320" y="4114800"/>
            <a:ext cx="0" cy="50292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818120" y="4114800"/>
            <a:ext cx="1828800" cy="50292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331720" y="5303520"/>
            <a:ext cx="1691640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6172200"/>
            <a:ext cx="11247120" cy="411480"/>
          </a:xfrm>
          <a:prstGeom prst="roundRect">
            <a:avLst/>
          </a:prstGeom>
          <a:noFill/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555555"/>
                </a:solidFill>
                <a:latin typeface="Microsoft YaHei"/>
              </a:rPr>
              <a:t>三类触发共享同一 Agent 与同一套多维表格；宝剑群既是输入源也是结果投递目标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四、触发机制：3 层，其他时间静默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840480"/>
                <a:gridCol w="3200400"/>
                <a:gridCol w="256032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层级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触发条件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行为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输出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即时响应层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被 @ 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查状态/改状态/生成摘要/帮助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按需回复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智能感知层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检测到『确定了』『排期』『约个会』『对齐一下』等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记录决策/会议安排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极简 1 句话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定时汇总层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工作日 16:35 / 周五 14:43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巡检全天消息，生成报告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每日速递 / 周报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389120"/>
            <a:ext cx="11247120" cy="914400"/>
          </a:xfrm>
          <a:prstGeom prst="roundRect">
            <a:avLst/>
          </a:prstGeom>
          <a:solidFill>
            <a:srgbClr val="E3EFE6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E7D32"/>
                </a:solidFill>
                <a:latin typeface="Microsoft YaHei"/>
              </a:rPr>
              <a:t>静默原则：非触发不动作，不会冒出来 —— 对应 PRD『不打扰』设计原则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五、数据流与 6 类分类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Microsoft YaHei"/>
              </a:rPr>
              <a:t>• 群消息 → 意图识别 → 分类（6 类）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Microsoft YaHei"/>
              </a:rPr>
              <a:t>• 新需求 → 任务表（建条目）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Microsoft YaHei"/>
              </a:rPr>
              <a:t>• 决策 → 决策日志表（极简 1 句话）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Microsoft YaHei"/>
              </a:rPr>
              <a:t>• 会议安排 → 任务表（排期类）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Microsoft YaHei"/>
              </a:rPr>
              <a:t>• 闲聊 → 静默忽略；命令/被@ → 即时响应层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Microsoft YaHei"/>
              </a:rPr>
              <a:t>• 每日巡检聚合全天 → 每日速递 / 每周周报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120640"/>
            <a:ext cx="11247120" cy="1005840"/>
          </a:xfrm>
          <a:prstGeom prst="roundRect">
            <a:avLst/>
          </a:prstGeom>
          <a:solidFill>
            <a:srgbClr val="CFE3F3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F3A5F"/>
                </a:solidFill>
                <a:latin typeface="Microsoft YaHei"/>
              </a:rPr>
              <a:t>6 类分类：新需求 / 需求修改 / 澄清讨论 / 决策 / 闲聊 / 命令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六、多维表格结构（5 张表）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530352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表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关键字段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项目表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项目空间与成员映射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项目名称、成员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任务表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需求/任务条目(需求池)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原始一句话、当前版本、状态、版本链、来源类型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决策日志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决策记录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关联需求、决策内容、决策人、原因、证据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周报表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定时汇总结果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本周演进、状态分布、未决点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成员表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人员与角色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  <a:latin typeface="Microsoft YaHei"/>
                        </a:rPr>
                        <a:t>成员、角色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七、验收场景（1-3）· 截图占位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108960"/>
                <a:gridCol w="256032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场景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操作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预期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</a:rPr>
                        <a:t>1 连续对话合并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</a:rPr>
                        <a:t>群内连续发 5 条同一需求讨论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</a:rPr>
                        <a:t>只生成/更新 1 条记录，不重复建 5 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</a:rPr>
                        <a:t>2 版本链不覆盖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</a:rPr>
                        <a:t>已有记录，再发『加个期望时间字段』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</a:rPr>
                        <a:t>v0 不变，追加 v1，显示 v0→v1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</a:rPr>
                        <a:t>3 @修改状态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</a:rPr>
                        <a:t>@Agent：把【XX】标记为已收敛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</a:rPr>
                        <a:t>回复确认，表格状态同步为已收敛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863840" y="914400"/>
            <a:ext cx="3931920" cy="1371600"/>
          </a:xfrm>
          <a:prstGeom prst="round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555555"/>
                </a:solidFill>
                <a:latin typeface="Microsoft YaHei"/>
              </a:rPr>
              <a:t>📷 截图占位
场景1：群对话+任务表仅1条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468880"/>
            <a:ext cx="3931920" cy="1371600"/>
          </a:xfrm>
          <a:prstGeom prst="round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555555"/>
                </a:solidFill>
                <a:latin typeface="Microsoft YaHei"/>
              </a:rPr>
              <a:t>📷 截图占位
场景2：任务表版本链字段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023360"/>
            <a:ext cx="3931920" cy="1371600"/>
          </a:xfrm>
          <a:prstGeom prst="round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555555"/>
                </a:solidFill>
                <a:latin typeface="Microsoft YaHei"/>
              </a:rPr>
              <a:t>📷 截图占位
场景3：@指令+回复+状态变更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八、验收场景（4-5）与关键配置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7315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017520"/>
                <a:gridCol w="2560320"/>
              </a:tblGrid>
              <a:tr h="6705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场景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操作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预期</a:t>
                      </a:r>
                    </a:p>
                  </a:txBody>
                  <a:tcPr marL="54864" marR="54864" marT="18288" marB="18288" anchor="ctr">
                    <a:solidFill>
                      <a:srgbClr val="2E6DA4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</a:rPr>
                        <a:t>4 收敛信号(极简1句)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</a:rPr>
                        <a:t>群发：『就这么定了，先按A方案做』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</a:rPr>
                        <a:t>回复：📌 已记录决策：将【XX】按【A方案】推进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</a:rPr>
                        <a:t>5 写入给说明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</a:rPr>
                        <a:t>@Agent：查一下XX的状态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</a:rPr>
                        <a:t>回复查询结果，并附一句简短说明</a:t>
                      </a:r>
                    </a:p>
                  </a:txBody>
                  <a:tcPr marL="54864" marR="54864" marT="18288" marB="18288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863840" y="914400"/>
            <a:ext cx="3931920" cy="1371600"/>
          </a:xfrm>
          <a:prstGeom prst="round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555555"/>
                </a:solidFill>
                <a:latin typeface="Microsoft YaHei"/>
              </a:rPr>
              <a:t>📷 截图占位
场景4：收敛信号+极简回复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468880"/>
            <a:ext cx="3931920" cy="1371600"/>
          </a:xfrm>
          <a:prstGeom prst="round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555555"/>
                </a:solidFill>
                <a:latin typeface="Microsoft YaHei"/>
              </a:rPr>
              <a:t>📷 截图占位
场景5：查询+带说明回复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114800"/>
            <a:ext cx="11430000" cy="2011680"/>
          </a:xfrm>
          <a:prstGeom prst="roundRect">
            <a:avLst/>
          </a:prstGeom>
          <a:solidFill>
            <a:srgbClr val="F4F8FC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555555"/>
                </a:solidFill>
                <a:latin typeface="Microsoft YaHei"/>
              </a:rPr>
              <a:t>关键配置（内部，对外可隐去）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Microsoft YaHei"/>
              </a:rPr>
              <a:t>Agent ID: agent_4kcxypswwg98ayw ｜ Continuous: 7670106519421078716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Microsoft YaHei"/>
              </a:rPr>
              <a:t>宝剑群 Chat ID: oc_e63829e8dd009fb398a380621d067d85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Microsoft YaHei"/>
              </a:rPr>
              <a:t>Base Token: Z2rcbRElNauBTmsySI6c7S46ntE ｜ 任务表 tblxY7V5NXfyiIkG ｜ 决策日志 tblNHufHr16mFV92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Microsoft YaHei"/>
              </a:rPr>
              <a:t>双身份：--as user 读写表格 / --as bot 发消息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九、价值与成本收益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• 对周仕兴（关键干系人）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555555"/>
                </a:solidFill>
                <a:latin typeface="Microsoft YaHei"/>
              </a:rPr>
              <a:t>    不增加步骤——飞书文档/需求池不需要她管理，她只需审核 Agent 草稿后建卡。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• 对开发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555555"/>
                </a:solidFill>
                <a:latin typeface="Microsoft YaHei"/>
              </a:rPr>
              <a:t>    需求背景可追溯，理解'为什么这么做'，不用反复追问。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• 对一骢哥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555555"/>
                </a:solidFill>
                <a:latin typeface="Microsoft YaHei"/>
              </a:rPr>
              <a:t>    决策自动留痕，不靠人肉记忆；随时 @Agent 看项目状态。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• 对组织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555555"/>
                </a:solidFill>
                <a:latin typeface="Microsoft YaHei"/>
              </a:rPr>
              <a:t>    需求背景不随人走，新项目有统一需求池与决策脉络。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• 成本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555555"/>
                </a:solidFill>
                <a:latin typeface="Microsoft YaHei"/>
              </a:rPr>
              <a:t>    一次性搭建 + 杨锟持续调优维护；日常维护成本低。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F3A5F"/>
                </a:solidFill>
                <a:latin typeface="Microsoft YaHei"/>
              </a:rPr>
              <a:t>• 诚实前提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555555"/>
                </a:solidFill>
                <a:latin typeface="Microsoft YaHei"/>
              </a:rPr>
              <a:t>    填禅道本身很快（点几下）；真实价值在禅道之前的'空白段'——需求产生与对聊定。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十、下一步计划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Microsoft YaHei"/>
              </a:rPr>
              <a:t>• Demo 全链路验收（任务③）：按 5 场景在宝剑群实跑，补截图。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Microsoft YaHei"/>
              </a:rPr>
              <a:t>• 多源采集补全（规划态→验证）：私聊总结推送、会议妙记流入项目群的实测。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Microsoft YaHei"/>
              </a:rPr>
              <a:t>• 版本链追加逻辑验收：确认同需求多次讨论正确追加 v1/v2 不覆盖。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Microsoft YaHei"/>
              </a:rPr>
              <a:t>• 风险识别（F5）：资源冲突/排期撞车信号识别，补入 Auto 任务。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Microsoft YaHei"/>
              </a:rPr>
              <a:t>• 禅道衔接（F7）：评估草稿供审核 vs 接 MCP 自动填报（待一骢哥拍板）。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222222"/>
                </a:solidFill>
                <a:latin typeface="Microsoft YaHei"/>
              </a:rPr>
              <a:t>• 竞品分析 / 团队访谈 / 复盘（任务⑦等）。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2377440"/>
            <a:ext cx="9418320" cy="128016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Q &amp; A</a:t>
            </a:r>
          </a:p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931920"/>
            <a:ext cx="9418320" cy="731520"/>
          </a:xfrm>
          <a:prstGeom prst="roundRect">
            <a:avLst/>
          </a:prstGeom>
          <a:solidFill>
            <a:srgbClr val="1F3A5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0">
                <a:solidFill>
                  <a:srgbClr val="CFE3F3"/>
                </a:solidFill>
                <a:latin typeface="Microsoft YaHei"/>
              </a:rPr>
              <a:t>不替代禅道 · 只补上『聊完即过』的空白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